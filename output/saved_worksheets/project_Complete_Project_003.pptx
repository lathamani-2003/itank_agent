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68" r:id="rId2"/>
    <p:sldId id="341" r:id="rId3"/>
    <p:sldId id="342" r:id="rId4"/>
    <p:sldId id="343" r:id="rId5"/>
    <p:sldId id="329" r:id="rId6"/>
    <p:sldId id="380" r:id="rId7"/>
    <p:sldId id="429" r:id="rId55"/>
    <p:sldId id="430" r:id="rId56"/>
    <p:sldId id="377" r:id="rId30"/>
    <p:sldId id="428" r:id="rId31"/>
    <p:sldId id="383" r:id="rId32"/>
    <p:sldId id="404" r:id="rId33"/>
    <p:sldId id="386" r:id="rId34"/>
    <p:sldId id="388" r:id="rId35"/>
    <p:sldId id="399" r:id="rId36"/>
    <p:sldId id="400" r:id="rId37"/>
    <p:sldId id="389" r:id="rId38"/>
    <p:sldId id="339" r:id="rId39"/>
    <p:sldId id="390" r:id="rId40"/>
    <p:sldId id="391" r:id="rId41"/>
    <p:sldId id="392" r:id="rId42"/>
    <p:sldId id="393" r:id="rId43"/>
    <p:sldId id="394" r:id="rId44"/>
    <p:sldId id="395" r:id="rId45"/>
    <p:sldId id="348" r:id="rId46"/>
    <p:sldId id="349" r:id="rId47"/>
    <p:sldId id="350" r:id="rId48"/>
    <p:sldId id="369" r:id="rId49"/>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CCE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8" autoAdjust="0"/>
    <p:restoredTop sz="58581" autoAdjust="0"/>
  </p:normalViewPr>
  <p:slideViewPr>
    <p:cSldViewPr snapToGrid="0">
      <p:cViewPr varScale="1">
        <p:scale>
          <a:sx n="112" d="100"/>
          <a:sy n="112" d="100"/>
        </p:scale>
        <p:origin x="660" y="108"/>
      </p:cViewPr>
      <p:guideLst>
        <p:guide orient="horz" pos="2137"/>
        <p:guide pos="38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1FBC7DEB-7A80-4BD5-B6E2-648D19C1A52F}" type="datetimeFigureOut">
              <a:rPr lang="en-IN" smtClean="0"/>
              <a:pPr/>
              <a:t>17-08-2026</a:t>
            </a:fld>
            <a:endParaRPr lang="en-IN"/>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8975" y="4759325"/>
            <a:ext cx="5510213" cy="4510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464E3BE0-BFAF-4323-9926-E1E819648E01}" type="slidenum">
              <a:rPr lang="en-IN" smtClean="0"/>
              <a:pPr/>
              <a:t>‹#›</a:t>
            </a:fld>
            <a:endParaRPr lang="en-IN"/>
          </a:p>
        </p:txBody>
      </p:sp>
    </p:spTree>
    <p:extLst>
      <p:ext uri="{BB962C8B-B14F-4D97-AF65-F5344CB8AC3E}">
        <p14:creationId xmlns:p14="http://schemas.microsoft.com/office/powerpoint/2010/main" val="88927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41</a:t>
            </a:fld>
            <a:endParaRPr lang="en-IN"/>
          </a:p>
        </p:txBody>
      </p:sp>
    </p:spTree>
    <p:extLst>
      <p:ext uri="{BB962C8B-B14F-4D97-AF65-F5344CB8AC3E}">
        <p14:creationId xmlns:p14="http://schemas.microsoft.com/office/powerpoint/2010/main" val="346658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2A819E1-6B78-4DBC-B89A-36E88700F062}" type="slidenum">
              <a:rPr lang="en-GB" smtClean="0"/>
              <a:pPr/>
              <a:t>42</a:t>
            </a:fld>
            <a:endParaRPr lang="en-GB"/>
          </a:p>
        </p:txBody>
      </p:sp>
    </p:spTree>
    <p:extLst>
      <p:ext uri="{BB962C8B-B14F-4D97-AF65-F5344CB8AC3E}">
        <p14:creationId xmlns:p14="http://schemas.microsoft.com/office/powerpoint/2010/main" val="171239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3" name="Rounded Rectangle 12"/>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ubtitle 8"/>
          <p:cNvSpPr>
            <a:spLocks noGrp="1"/>
          </p:cNvSpPr>
          <p:nvPr>
            <p:ph type="subTitle" idx="1"/>
          </p:nvPr>
        </p:nvSpPr>
        <p:spPr>
          <a:xfrm>
            <a:off x="1727200" y="3200400"/>
            <a:ext cx="8534400" cy="160020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050">
                <a:solidFill>
                  <a:srgbClr val="FFFFFF"/>
                </a:solidFill>
              </a:defRPr>
            </a:lvl1pPr>
          </a:lstStyle>
          <a:p>
            <a:fld id="{A312240D-01E2-402A-A404-35981060E447}" type="slidenum">
              <a:rPr lang="en-IN" smtClean="0"/>
              <a:pPr/>
              <a:t>‹#›</a:t>
            </a:fld>
            <a:endParaRPr lang="en-IN"/>
          </a:p>
        </p:txBody>
      </p:sp>
      <p:sp>
        <p:nvSpPr>
          <p:cNvPr id="7" name="Rectangle 6"/>
          <p:cNvSpPr/>
          <p:nvPr/>
        </p:nvSpPr>
        <p:spPr>
          <a:xfrm>
            <a:off x="83910" y="1449306"/>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83910"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Rectangle 10"/>
          <p:cNvSpPr/>
          <p:nvPr/>
        </p:nvSpPr>
        <p:spPr>
          <a:xfrm>
            <a:off x="83910"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Title 7"/>
          <p:cNvSpPr>
            <a:spLocks noGrp="1"/>
          </p:cNvSpPr>
          <p:nvPr>
            <p:ph type="ctrTitle"/>
          </p:nvPr>
        </p:nvSpPr>
        <p:spPr>
          <a:xfrm>
            <a:off x="609600" y="1505933"/>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823965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5499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0" name="Rounded Rectangle 9"/>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963084" y="952503"/>
            <a:ext cx="10363200" cy="1362075"/>
          </a:xfrm>
        </p:spPr>
        <p:txBody>
          <a:bodyPr anchor="b" anchorCtr="0"/>
          <a:lstStyle>
            <a:lvl1pPr algn="l">
              <a:buNone/>
              <a:defRPr sz="3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1"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2197" y="2341478"/>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Rectangle 8"/>
          <p:cNvSpPr/>
          <p:nvPr/>
        </p:nvSpPr>
        <p:spPr>
          <a:xfrm>
            <a:off x="91077"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6" name="Slide Number Placeholder 5"/>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44166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3093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58631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49031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179853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1219200" y="273050"/>
            <a:ext cx="10363200" cy="1143000"/>
          </a:xfrm>
        </p:spPr>
        <p:txBody>
          <a:bodyPr anchor="b" anchorCtr="0"/>
          <a:lstStyle>
            <a:lvl1pPr algn="l">
              <a:buNone/>
              <a:defRPr sz="3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350"/>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99009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1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20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a:xfrm>
            <a:off x="91346" y="4650477"/>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Rectangle 12"/>
          <p:cNvSpPr/>
          <p:nvPr/>
        </p:nvSpPr>
        <p:spPr>
          <a:xfrm>
            <a:off x="91349" y="4773227"/>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 name="Picture Placeholder 2"/>
          <p:cNvSpPr>
            <a:spLocks noGrp="1"/>
          </p:cNvSpPr>
          <p:nvPr>
            <p:ph type="pic" idx="1"/>
          </p:nvPr>
        </p:nvSpPr>
        <p:spPr>
          <a:xfrm>
            <a:off x="91080" y="66678"/>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2400"/>
            </a:lvl1pPr>
          </a:lstStyle>
          <a:p>
            <a:r>
              <a:rPr kumimoji="0" lang="en-US"/>
              <a:t>Click icon to add picture</a:t>
            </a:r>
            <a:endParaRPr kumimoji="0" lang="en-US" dirty="0"/>
          </a:p>
        </p:txBody>
      </p:sp>
    </p:spTree>
    <p:extLst>
      <p:ext uri="{BB962C8B-B14F-4D97-AF65-F5344CB8AC3E}">
        <p14:creationId xmlns:p14="http://schemas.microsoft.com/office/powerpoint/2010/main" val="65039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269069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4"/>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3"/>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5118387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050">
                <a:solidFill>
                  <a:schemeClr val="tx2"/>
                </a:solidFill>
              </a:defRPr>
            </a:lvl1pPr>
          </a:lstStyle>
          <a:p>
            <a:fld id="{476A0C6B-A652-4015-B88E-7E26A9FDB063}" type="datetimeFigureOut">
              <a:rPr lang="en-IN" smtClean="0"/>
              <a:pPr/>
              <a:t>17-08-2026</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05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050">
                <a:solidFill>
                  <a:srgbClr val="FFFFFF"/>
                </a:solidFill>
                <a:latin typeface="+mj-lt"/>
                <a:ea typeface="+mj-ea"/>
                <a:cs typeface="+mj-cs"/>
              </a:defRPr>
            </a:lvl1pPr>
          </a:lstStyle>
          <a:p>
            <a:fld id="{A312240D-01E2-402A-A404-35981060E447}" type="slidenum">
              <a:rPr lang="en-IN" smtClean="0"/>
              <a:pPr/>
              <a:t>‹#›</a:t>
            </a:fld>
            <a:endParaRPr lang="en-IN"/>
          </a:p>
        </p:txBody>
      </p:sp>
    </p:spTree>
    <p:extLst>
      <p:ext uri="{BB962C8B-B14F-4D97-AF65-F5344CB8AC3E}">
        <p14:creationId xmlns:p14="http://schemas.microsoft.com/office/powerpoint/2010/main" val="236939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kern="1200">
          <a:solidFill>
            <a:schemeClr val="tx2"/>
          </a:solidFill>
          <a:latin typeface="+mj-lt"/>
          <a:ea typeface="+mj-ea"/>
          <a:cs typeface="+mj-cs"/>
        </a:defRPr>
      </a:lvl1pPr>
    </p:titleStyle>
    <p:bodyStyle>
      <a:lvl1pPr marL="205740" indent="-205740" algn="l" rtl="0" eaLnBrk="1" latinLnBrk="0" hangingPunct="1">
        <a:spcBef>
          <a:spcPts val="435"/>
        </a:spcBef>
        <a:buClr>
          <a:schemeClr val="accent1"/>
        </a:buClr>
        <a:buSzPct val="85000"/>
        <a:buFont typeface="Wingdings 2"/>
        <a:buChar char=""/>
        <a:defRPr kumimoji="0" sz="1950" kern="1200">
          <a:solidFill>
            <a:schemeClr val="tx1"/>
          </a:solidFill>
          <a:latin typeface="+mn-lt"/>
          <a:ea typeface="+mn-ea"/>
          <a:cs typeface="+mn-cs"/>
        </a:defRPr>
      </a:lvl1pPr>
      <a:lvl2pPr marL="411480" indent="-171450" algn="l" rtl="0" eaLnBrk="1" latinLnBrk="0" hangingPunct="1">
        <a:spcBef>
          <a:spcPts val="278"/>
        </a:spcBef>
        <a:buClr>
          <a:schemeClr val="accent2"/>
        </a:buClr>
        <a:buSzPct val="85000"/>
        <a:buFont typeface="Wingdings 2"/>
        <a:buChar char=""/>
        <a:defRPr kumimoji="0" sz="1800" kern="1200">
          <a:solidFill>
            <a:schemeClr val="tx1"/>
          </a:solidFill>
          <a:latin typeface="+mn-lt"/>
          <a:ea typeface="+mn-ea"/>
          <a:cs typeface="+mn-cs"/>
        </a:defRPr>
      </a:lvl2pPr>
      <a:lvl3pPr marL="617220" indent="-171450" algn="l" rtl="0" eaLnBrk="1" latinLnBrk="0" hangingPunct="1">
        <a:spcBef>
          <a:spcPts val="278"/>
        </a:spcBef>
        <a:buClr>
          <a:schemeClr val="accent1">
            <a:tint val="60000"/>
          </a:schemeClr>
        </a:buClr>
        <a:buSzPct val="85000"/>
        <a:buFont typeface="Wingdings 2"/>
        <a:buChar char=""/>
        <a:defRPr kumimoji="0" sz="1500" kern="1200">
          <a:solidFill>
            <a:schemeClr val="tx1"/>
          </a:solidFill>
          <a:latin typeface="+mn-lt"/>
          <a:ea typeface="+mn-ea"/>
          <a:cs typeface="+mn-cs"/>
        </a:defRPr>
      </a:lvl3pPr>
      <a:lvl4pPr marL="822960" indent="-171450" algn="l" rtl="0" eaLnBrk="1" latinLnBrk="0" hangingPunct="1">
        <a:spcBef>
          <a:spcPts val="278"/>
        </a:spcBef>
        <a:buClr>
          <a:schemeClr val="accent3"/>
        </a:buClr>
        <a:buSzPct val="80000"/>
        <a:buFont typeface="Wingdings 2"/>
        <a:buChar char=""/>
        <a:defRPr kumimoji="0" sz="1500" kern="1200">
          <a:solidFill>
            <a:schemeClr val="tx1"/>
          </a:solidFill>
          <a:latin typeface="+mn-lt"/>
          <a:ea typeface="+mn-ea"/>
          <a:cs typeface="+mn-cs"/>
        </a:defRPr>
      </a:lvl4pPr>
      <a:lvl5pPr marL="1028700" indent="-171450" algn="l" rtl="0" eaLnBrk="1" latinLnBrk="0" hangingPunct="1">
        <a:spcBef>
          <a:spcPts val="278"/>
        </a:spcBef>
        <a:buClr>
          <a:schemeClr val="accent3"/>
        </a:buClr>
        <a:buFontTx/>
        <a:buChar char="o"/>
        <a:defRPr kumimoji="0"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jpeg"/><Relationship Id="rId6" Type="http://schemas.microsoft.com/office/2007/relationships/hdphoto" Target="../media/hdphoto1.wdp"/><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 Id="rId9" Type="http://schemas.openxmlformats.org/officeDocument/2006/relationships/image" Target="../media/image19.jpeg"/><Relationship Id="rId10"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0.png"/><Relationship Id="rId6"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0.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54.png"/><Relationship Id="rId5" Type="http://schemas.openxmlformats.org/officeDocument/2006/relationships/image" Target="../media/image47.png"/><Relationship Id="rId6"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e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jpe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jpeg"/><Relationship Id="rId11" Type="http://schemas.openxmlformats.org/officeDocument/2006/relationships/image" Target="../media/image64.jpeg"/><Relationship Id="rId12" Type="http://schemas.openxmlformats.org/officeDocument/2006/relationships/image" Target="../media/image65.jpeg"/><Relationship Id="rId13" Type="http://schemas.openxmlformats.org/officeDocument/2006/relationships/image" Target="../media/image66.jpeg"/><Relationship Id="rId14" Type="http://schemas.openxmlformats.org/officeDocument/2006/relationships/image" Target="../media/image67.png"/><Relationship Id="rId15" Type="http://schemas.openxmlformats.org/officeDocument/2006/relationships/image" Target="../media/image68.jpeg"/><Relationship Id="rId16" Type="http://schemas.openxmlformats.org/officeDocument/2006/relationships/image" Target="../media/image69.jpeg"/><Relationship Id="rId17" Type="http://schemas.openxmlformats.org/officeDocument/2006/relationships/image" Target="../media/image70.jpeg"/><Relationship Id="rId18" Type="http://schemas.openxmlformats.org/officeDocument/2006/relationships/image" Target="../media/image71.jpeg"/><Relationship Id="rId19" Type="http://schemas.openxmlformats.org/officeDocument/2006/relationships/image" Target="../media/image72.png"/><Relationship Id="rId20" Type="http://schemas.openxmlformats.org/officeDocument/2006/relationships/image" Target="../media/image73.jpeg"/><Relationship Id="rId21" Type="http://schemas.openxmlformats.org/officeDocument/2006/relationships/image" Target="../media/image74.png"/><Relationship Id="rId2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eg"/><Relationship Id="rId3" Type="http://schemas.openxmlformats.org/officeDocument/2006/relationships/image" Target="../media/image76.png"/><Relationship Id="rId4" Type="http://schemas.openxmlformats.org/officeDocument/2006/relationships/image" Target="../media/image77.jpeg"/><Relationship Id="rId5" Type="http://schemas.openxmlformats.org/officeDocument/2006/relationships/image" Target="../media/image78.jpeg"/><Relationship Id="rId6" Type="http://schemas.openxmlformats.org/officeDocument/2006/relationships/image" Target="../media/image79.jpe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jpeg"/><Relationship Id="rId10" Type="http://schemas.openxmlformats.org/officeDocument/2006/relationships/image" Target="../media/image83.jpeg"/><Relationship Id="rId11" Type="http://schemas.openxmlformats.org/officeDocument/2006/relationships/image" Target="../media/image84.jpe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image" Target="../media/image87.jpeg"/><Relationship Id="rId15" Type="http://schemas.openxmlformats.org/officeDocument/2006/relationships/image" Target="../media/image88.jpeg"/><Relationship Id="rId16" Type="http://schemas.openxmlformats.org/officeDocument/2006/relationships/image" Target="../media/image89.jpeg"/><Relationship Id="rId17" Type="http://schemas.openxmlformats.org/officeDocument/2006/relationships/image" Target="../media/image90.png"/><Relationship Id="rId18" Type="http://schemas.openxmlformats.org/officeDocument/2006/relationships/image" Target="../media/image4.png"/><Relationship Id="rId19" Type="http://schemas.openxmlformats.org/officeDocument/2006/relationships/image" Target="../media/image91.png"/><Relationship Id="rId20" Type="http://schemas.openxmlformats.org/officeDocument/2006/relationships/image" Target="../media/image92.png"/><Relationship Id="rId21" Type="http://schemas.openxmlformats.org/officeDocument/2006/relationships/image" Target="../media/image93.png"/><Relationship Id="rId22"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5.png"/><Relationship Id="rId4" Type="http://schemas.openxmlformats.org/officeDocument/2006/relationships/image" Target="../media/image96.jpeg"/><Relationship Id="rId5" Type="http://schemas.openxmlformats.org/officeDocument/2006/relationships/image" Target="../media/image97.jpe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jpe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jpeg"/><Relationship Id="rId12" Type="http://schemas.openxmlformats.org/officeDocument/2006/relationships/image" Target="../media/image104.jpeg"/><Relationship Id="rId13" Type="http://schemas.openxmlformats.org/officeDocument/2006/relationships/image" Target="../media/image105.jpeg"/><Relationship Id="rId14" Type="http://schemas.openxmlformats.org/officeDocument/2006/relationships/image" Target="../media/image106.jpeg"/><Relationship Id="rId15" Type="http://schemas.openxmlformats.org/officeDocument/2006/relationships/image" Target="../media/image107.jpeg"/><Relationship Id="rId16" Type="http://schemas.openxmlformats.org/officeDocument/2006/relationships/image" Target="../media/image108.jpeg"/><Relationship Id="rId17" Type="http://schemas.openxmlformats.org/officeDocument/2006/relationships/image" Target="../media/image109.jpeg"/><Relationship Id="rId18" Type="http://schemas.openxmlformats.org/officeDocument/2006/relationships/image" Target="../media/image110.jpeg"/><Relationship Id="rId19" Type="http://schemas.openxmlformats.org/officeDocument/2006/relationships/image" Target="../media/image4.png"/><Relationship Id="rId20" Type="http://schemas.openxmlformats.org/officeDocument/2006/relationships/image" Target="../media/image111.png"/><Relationship Id="rId21" Type="http://schemas.openxmlformats.org/officeDocument/2006/relationships/image" Target="../media/image112.png"/><Relationship Id="rId22" Type="http://schemas.openxmlformats.org/officeDocument/2006/relationships/image" Target="../media/image113.png"/><Relationship Id="rId23" Type="http://schemas.openxmlformats.org/officeDocument/2006/relationships/image" Target="../media/image1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4.jpeg"/><Relationship Id="rId4" Type="http://schemas.openxmlformats.org/officeDocument/2006/relationships/image" Target="../media/image115.jpeg"/><Relationship Id="rId5" Type="http://schemas.openxmlformats.org/officeDocument/2006/relationships/image" Target="../media/image116.png"/><Relationship Id="rId6" Type="http://schemas.openxmlformats.org/officeDocument/2006/relationships/image" Target="../media/image117.jpeg"/><Relationship Id="rId7" Type="http://schemas.openxmlformats.org/officeDocument/2006/relationships/image" Target="../media/image118.jpeg"/><Relationship Id="rId8" Type="http://schemas.openxmlformats.org/officeDocument/2006/relationships/image" Target="../media/image119.jpe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image" Target="../media/image125.png"/><Relationship Id="rId15" Type="http://schemas.openxmlformats.org/officeDocument/2006/relationships/image" Target="../media/image126.jpeg"/><Relationship Id="rId16" Type="http://schemas.openxmlformats.org/officeDocument/2006/relationships/image" Target="../media/image127.jpeg"/><Relationship Id="rId17" Type="http://schemas.openxmlformats.org/officeDocument/2006/relationships/image" Target="../media/image88.jpeg"/><Relationship Id="rId18" Type="http://schemas.openxmlformats.org/officeDocument/2006/relationships/image" Target="../media/image65.jpeg"/><Relationship Id="rId19" Type="http://schemas.openxmlformats.org/officeDocument/2006/relationships/image" Target="../media/image128.png"/><Relationship Id="rId20" Type="http://schemas.openxmlformats.org/officeDocument/2006/relationships/image" Target="../media/image129.jpeg"/><Relationship Id="rId21" Type="http://schemas.openxmlformats.org/officeDocument/2006/relationships/image" Target="../media/image130.png"/><Relationship Id="rId22" Type="http://schemas.openxmlformats.org/officeDocument/2006/relationships/image" Target="../media/image131.png"/><Relationship Id="rId23" Type="http://schemas.openxmlformats.org/officeDocument/2006/relationships/image" Target="../media/image132.jpeg"/><Relationship Id="rId24" Type="http://schemas.openxmlformats.org/officeDocument/2006/relationships/image" Target="../media/image133.jpeg"/><Relationship Id="rId25" Type="http://schemas.openxmlformats.org/officeDocument/2006/relationships/image" Target="../media/image134.png"/><Relationship Id="rId26"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145.jpe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image" Target="../media/image147.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www.realtech.in/" TargetMode="Externa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2.jpg"/><Relationship Id="rId5"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3E14B1-B269-4662-91C1-6E48246C276A}"/>
              </a:ext>
            </a:extLst>
          </p:cNvPr>
          <p:cNvSpPr>
            <a:spLocks noGrp="1"/>
          </p:cNvSpPr>
          <p:nvPr>
            <p:ph type="subTitle" idx="1"/>
          </p:nvPr>
        </p:nvSpPr>
        <p:spPr>
          <a:xfrm>
            <a:off x="1801744" y="335909"/>
            <a:ext cx="8534400" cy="788041"/>
          </a:xfrm>
          <a:solidFill>
            <a:schemeClr val="bg1">
              <a:lumMod val="95000"/>
            </a:schemeClr>
          </a:solidFill>
        </p:spPr>
        <p:txBody>
          <a:bodyPr>
            <a:normAutofit/>
          </a:bodyPr>
          <a:lstStyle/>
          <a:p>
            <a:r>
              <a:rPr lang="en-IN" sz="4400" b="1" dirty="0">
                <a:solidFill>
                  <a:srgbClr val="002060"/>
                </a:solidFill>
                <a:latin typeface="Times New Roman" pitchFamily="18" charset="0"/>
                <a:cs typeface="Times New Roman" pitchFamily="18" charset="0"/>
              </a:rPr>
              <a:t>Smart Water Management System</a:t>
            </a:r>
          </a:p>
        </p:txBody>
      </p:sp>
      <p:sp>
        <p:nvSpPr>
          <p:cNvPr id="2" name="Title 1">
            <a:extLst>
              <a:ext uri="{FF2B5EF4-FFF2-40B4-BE49-F238E27FC236}">
                <a16:creationId xmlns:a16="http://schemas.microsoft.com/office/drawing/2014/main" id="{3997AA46-EED6-4F0C-B70A-E17F53ECB6DE}"/>
              </a:ext>
            </a:extLst>
          </p:cNvPr>
          <p:cNvSpPr>
            <a:spLocks noGrp="1"/>
          </p:cNvSpPr>
          <p:nvPr>
            <p:ph type="ctrTitle"/>
          </p:nvPr>
        </p:nvSpPr>
        <p:spPr/>
        <p:txBody>
          <a:bodyPr>
            <a:normAutofit/>
          </a:bodyPr>
          <a:lstStyle/>
          <a:p>
            <a:r>
              <a:rPr lang="en-US" sz="4800" b="1" dirty="0">
                <a:latin typeface="Times New Roman" pitchFamily="18" charset="0"/>
                <a:cs typeface="Times New Roman" pitchFamily="18" charset="0"/>
              </a:rPr>
              <a:t>YYYYYYYYYYYY</a:t>
            </a:r>
            <a:endParaRPr lang="en-IN" sz="48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B896898E-54BF-44DF-AD9D-7BBDC5CD7C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433" y="3171465"/>
            <a:ext cx="4330699" cy="1265253"/>
          </a:xfrm>
          <a:prstGeom prst="rect">
            <a:avLst/>
          </a:prstGeom>
        </p:spPr>
      </p:pic>
      <p:sp>
        <p:nvSpPr>
          <p:cNvPr id="12" name="TextBox 11">
            <a:extLst>
              <a:ext uri="{FF2B5EF4-FFF2-40B4-BE49-F238E27FC236}">
                <a16:creationId xmlns:a16="http://schemas.microsoft.com/office/drawing/2014/main" id="{64FFA02F-96A8-41A7-A0E8-F5DBCDBB8E11}"/>
              </a:ext>
            </a:extLst>
          </p:cNvPr>
          <p:cNvSpPr txBox="1"/>
          <p:nvPr/>
        </p:nvSpPr>
        <p:spPr>
          <a:xfrm>
            <a:off x="5045683" y="5970943"/>
            <a:ext cx="2046522" cy="707886"/>
          </a:xfrm>
          <a:prstGeom prst="rect">
            <a:avLst/>
          </a:prstGeom>
          <a:noFill/>
        </p:spPr>
        <p:txBody>
          <a:bodyPr wrap="none" rtlCol="0">
            <a:spAutoFit/>
          </a:bodyPr>
          <a:lstStyle/>
          <a:p>
            <a:pPr algn="ctr"/>
            <a:r>
              <a:rPr lang="en-US" sz="2000" b="1" dirty="0">
                <a:solidFill>
                  <a:schemeClr val="accent1"/>
                </a:solidFill>
                <a:latin typeface="Times New Roman" pitchFamily="18" charset="0"/>
                <a:cs typeface="Times New Roman" pitchFamily="18" charset="0"/>
              </a:rPr>
              <a:t>FOR SUPPORT:</a:t>
            </a:r>
            <a:endParaRPr lang="en-IN" sz="2000" b="1" dirty="0">
              <a:solidFill>
                <a:schemeClr val="accent1"/>
              </a:solidFill>
              <a:latin typeface="Times New Roman" pitchFamily="18" charset="0"/>
              <a:cs typeface="Times New Roman" pitchFamily="18" charset="0"/>
            </a:endParaRPr>
          </a:p>
          <a:p>
            <a:pPr algn="ctr"/>
            <a:r>
              <a:rPr lang="en-IN" sz="2000" b="1" dirty="0">
                <a:solidFill>
                  <a:srgbClr val="2DA0E7"/>
                </a:solidFill>
                <a:latin typeface="Times New Roman" pitchFamily="18" charset="0"/>
                <a:cs typeface="Times New Roman" pitchFamily="18" charset="0"/>
              </a:rPr>
              <a:t>@</a:t>
            </a:r>
            <a:r>
              <a:rPr lang="en-IN" sz="2000" b="1" dirty="0">
                <a:solidFill>
                  <a:schemeClr val="accent1"/>
                </a:solidFill>
                <a:latin typeface="Times New Roman" pitchFamily="18" charset="0"/>
                <a:cs typeface="Times New Roman" pitchFamily="18" charset="0"/>
              </a:rPr>
              <a:t> </a:t>
            </a:r>
            <a:r>
              <a:rPr lang="en-IN" sz="2000" b="1" dirty="0">
                <a:solidFill>
                  <a:srgbClr val="00B050"/>
                </a:solidFill>
                <a:latin typeface="Times New Roman" pitchFamily="18" charset="0"/>
                <a:cs typeface="Times New Roman" pitchFamily="18" charset="0"/>
              </a:rPr>
              <a:t>9865212396</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1462" y="4617650"/>
            <a:ext cx="1296364" cy="1296364"/>
          </a:xfrm>
          <a:prstGeom prst="rect">
            <a:avLst/>
          </a:prstGeom>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8713272" y="3171465"/>
            <a:ext cx="2195208" cy="1080876"/>
          </a:xfrm>
          <a:prstGeom prst="rect">
            <a:avLst/>
          </a:prstGeom>
          <a:noFill/>
        </p:spPr>
      </p:pic>
      <p:pic>
        <p:nvPicPr>
          <p:cNvPr id="4" name="Picture 3">
            <a:extLst>
              <a:ext uri="{FF2B5EF4-FFF2-40B4-BE49-F238E27FC236}">
                <a16:creationId xmlns:a16="http://schemas.microsoft.com/office/drawing/2014/main" id="{D67791D3-1893-FE82-0E6F-F357EC9EA1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3905" y="4733190"/>
            <a:ext cx="1237753" cy="1237753"/>
          </a:xfrm>
          <a:prstGeom prst="rect">
            <a:avLst/>
          </a:prstGeom>
        </p:spPr>
      </p:pic>
    </p:spTree>
    <p:extLst>
      <p:ext uri="{BB962C8B-B14F-4D97-AF65-F5344CB8AC3E}">
        <p14:creationId xmlns:p14="http://schemas.microsoft.com/office/powerpoint/2010/main" val="100331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71972" y="69194"/>
            <a:ext cx="10363200" cy="612654"/>
          </a:xfrm>
          <a:prstGeom prst="rect">
            <a:avLst/>
          </a:prstGeom>
        </p:spPr>
        <p:txBody>
          <a:bodyPr bIns="91440" anchor="b" anchorCtr="0">
            <a:no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About i</a:t>
            </a:r>
            <a:r>
              <a:rPr lang="en-US" sz="3200" b="1" u="sng" dirty="0">
                <a:solidFill>
                  <a:srgbClr val="002060"/>
                </a:solidFill>
                <a:latin typeface="Times New Roman" pitchFamily="18" charset="0"/>
                <a:ea typeface="+mj-ea"/>
                <a:cs typeface="Times New Roman" pitchFamily="18" charset="0"/>
              </a:rPr>
              <a:t>-</a:t>
            </a:r>
            <a:r>
              <a:rPr kumimoji="0" lang="en-US" sz="3200" b="1"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p>
        </p:txBody>
      </p:sp>
      <p:sp>
        <p:nvSpPr>
          <p:cNvPr id="7" name="Rectangle 6"/>
          <p:cNvSpPr/>
          <p:nvPr/>
        </p:nvSpPr>
        <p:spPr>
          <a:xfrm>
            <a:off x="159661" y="812797"/>
            <a:ext cx="11858171" cy="5170646"/>
          </a:xfrm>
          <a:prstGeom prst="rect">
            <a:avLst/>
          </a:prstGeom>
        </p:spPr>
        <p:txBody>
          <a:bodyPr wrap="square">
            <a:spAutoFit/>
          </a:bodyPr>
          <a:lstStyle/>
          <a:p>
            <a:pPr>
              <a:lnSpc>
                <a:spcPct val="150000"/>
              </a:lnSpc>
            </a:pPr>
            <a:r>
              <a:rPr lang="en-US" sz="2200" dirty="0">
                <a:latin typeface="Times New Roman" pitchFamily="18" charset="0"/>
                <a:cs typeface="Times New Roman" pitchFamily="18" charset="0"/>
              </a:rPr>
              <a:t>The i-Tank,</a:t>
            </a:r>
          </a:p>
          <a:p>
            <a:pPr algn="just">
              <a:lnSpc>
                <a:spcPct val="150000"/>
              </a:lnSpc>
            </a:pPr>
            <a:r>
              <a:rPr lang="en-US" sz="2200" dirty="0">
                <a:latin typeface="Times New Roman" pitchFamily="18" charset="0"/>
                <a:cs typeface="Times New Roman" pitchFamily="18" charset="0"/>
              </a:rPr>
              <a:t>	An adaptive solution of versatile, modular based and IOT integrated system for automating and reporting water level in tanks at large scale area and numerous in numbers.</a:t>
            </a:r>
          </a:p>
          <a:p>
            <a:pPr>
              <a:lnSpc>
                <a:spcPct val="150000"/>
              </a:lnSpc>
            </a:pPr>
            <a:endParaRPr lang="en-US" sz="2200" dirty="0">
              <a:latin typeface="Times New Roman" pitchFamily="18" charset="0"/>
              <a:cs typeface="Times New Roman" pitchFamily="18" charset="0"/>
            </a:endParaRPr>
          </a:p>
          <a:p>
            <a:pPr>
              <a:lnSpc>
                <a:spcPct val="150000"/>
              </a:lnSpc>
            </a:pPr>
            <a:r>
              <a:rPr lang="en-US" sz="2200" dirty="0">
                <a:latin typeface="Times New Roman" pitchFamily="18" charset="0"/>
                <a:cs typeface="Times New Roman" pitchFamily="18" charset="0"/>
              </a:rPr>
              <a:t>Distinctiveness,</a:t>
            </a:r>
          </a:p>
          <a:p>
            <a:pPr algn="just">
              <a:lnSpc>
                <a:spcPct val="150000"/>
              </a:lnSpc>
            </a:pPr>
            <a:r>
              <a:rPr lang="en-US" sz="2200" dirty="0">
                <a:latin typeface="Times New Roman" pitchFamily="18" charset="0"/>
                <a:cs typeface="Times New Roman" pitchFamily="18" charset="0"/>
              </a:rPr>
              <a:t>	Commercial solutions available for controlling water level in the tanks won't suite present scenarios especially when the tanks are largely spaced. Hence so the i-Tank is with its unique feature of wired and wireless connectivity. Because of this it overcomes complications in wiring and integrating a large scale water distribution system. As the system is with current wireless technology the tanks and pumping stations can even be separated at most to a distance of 5Km &amp; 50+ tanks can be monitored.</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18792"/>
            <a:ext cx="818090" cy="402811"/>
          </a:xfrm>
          <a:prstGeom prst="rect">
            <a:avLst/>
          </a:prstGeom>
          <a:noFill/>
        </p:spPr>
      </p:pic>
    </p:spTree>
    <p:extLst>
      <p:ext uri="{BB962C8B-B14F-4D97-AF65-F5344CB8AC3E}">
        <p14:creationId xmlns:p14="http://schemas.microsoft.com/office/powerpoint/2010/main" val="147224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7993" y="-8467"/>
            <a:ext cx="10363200" cy="687228"/>
          </a:xfrm>
          <a:prstGeom prst="rect">
            <a:avLst/>
          </a:prstGeom>
        </p:spPr>
        <p:txBody>
          <a:bodyPr bIns="91440" anchor="b" anchorCtr="0">
            <a:normAutofit/>
          </a:bodyPr>
          <a:lstStyle/>
          <a:p>
            <a:pPr algn="ctr">
              <a:lnSpc>
                <a:spcPct val="90000"/>
              </a:lnSpc>
              <a:spcBef>
                <a:spcPct val="0"/>
              </a:spcBef>
              <a:defRPr/>
            </a:pPr>
            <a:r>
              <a:rPr lang="en-US" sz="3200" b="1" u="sng" dirty="0">
                <a:solidFill>
                  <a:srgbClr val="002060"/>
                </a:solidFill>
                <a:latin typeface="Times New Roman" pitchFamily="18" charset="0"/>
                <a:cs typeface="Times New Roman" pitchFamily="18" charset="0"/>
              </a:rPr>
              <a:t>i-Tank Features</a:t>
            </a:r>
          </a:p>
        </p:txBody>
      </p:sp>
      <p:sp>
        <p:nvSpPr>
          <p:cNvPr id="11" name="Rectangle 10"/>
          <p:cNvSpPr/>
          <p:nvPr/>
        </p:nvSpPr>
        <p:spPr>
          <a:xfrm>
            <a:off x="203205" y="571581"/>
            <a:ext cx="11901715" cy="6186309"/>
          </a:xfrm>
          <a:prstGeom prst="rect">
            <a:avLst/>
          </a:prstGeom>
        </p:spPr>
        <p:txBody>
          <a:bodyPr wrap="square">
            <a:spAutoFit/>
          </a:bodyPr>
          <a:lstStyle/>
          <a:p>
            <a:pPr>
              <a:buFont typeface="Arial" pitchFamily="34" charset="0"/>
              <a:buChar char="•"/>
            </a:pPr>
            <a:r>
              <a:rPr lang="en-US" sz="2200" dirty="0">
                <a:latin typeface="Times New Roman" pitchFamily="18" charset="0"/>
                <a:cs typeface="Times New Roman" pitchFamily="18" charset="0"/>
              </a:rPr>
              <a:t> Water overflow &amp; dry run is completely prevented.</a:t>
            </a:r>
          </a:p>
          <a:p>
            <a:pPr>
              <a:buFont typeface="Arial" pitchFamily="34" charset="0"/>
              <a:buChar char="•"/>
            </a:pP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All time linear sensor with real time level.</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Manual, Semi-Automatic and Automatic modes.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Valve control for automatic tank switching and refilling.</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Wired or wireless modules up to the range of 5Km, Up to 50+ tanks in total including multiple sump.</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Alarm for high level and low level thresholds.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Consumption report and internet based level monitoring using application and web page.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Motor status, power non-linearity protection and starter actuation status, SMS configuration and      alerts, Suitable for urban, rural and hilly regions.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Inert materialized sensor makes suitable for chemical level measurements also.</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85083"/>
            <a:ext cx="818090" cy="402811"/>
          </a:xfrm>
          <a:prstGeom prst="rect">
            <a:avLst/>
          </a:prstGeom>
          <a:noFill/>
        </p:spPr>
      </p:pic>
    </p:spTree>
    <p:extLst>
      <p:ext uri="{BB962C8B-B14F-4D97-AF65-F5344CB8AC3E}">
        <p14:creationId xmlns:p14="http://schemas.microsoft.com/office/powerpoint/2010/main" val="185611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89F88-4C32-4DA4-BCE7-FA1A7A182454}"/>
              </a:ext>
            </a:extLst>
          </p:cNvPr>
          <p:cNvSpPr>
            <a:spLocks noGrp="1"/>
          </p:cNvSpPr>
          <p:nvPr>
            <p:ph sz="quarter" idx="1"/>
          </p:nvPr>
        </p:nvSpPr>
        <p:spPr>
          <a:xfrm>
            <a:off x="849762" y="895350"/>
            <a:ext cx="4396394" cy="5008418"/>
          </a:xfrm>
        </p:spPr>
        <p:txBody>
          <a:bodyPr>
            <a:normAutofit/>
          </a:bodyPr>
          <a:lstStyle/>
          <a:p>
            <a:pPr marL="0" indent="0" algn="ctr">
              <a:buNone/>
            </a:pPr>
            <a:r>
              <a:rPr lang="en-IN" sz="3300" b="1" u="sng" dirty="0">
                <a:solidFill>
                  <a:srgbClr val="FF0000"/>
                </a:solidFill>
                <a:latin typeface="Times New Roman" pitchFamily="18" charset="0"/>
                <a:cs typeface="Times New Roman" pitchFamily="18" charset="0"/>
              </a:rPr>
              <a:t>Challenges</a:t>
            </a:r>
          </a:p>
          <a:p>
            <a:pPr marL="0" indent="0" algn="ctr">
              <a:buNone/>
            </a:pPr>
            <a:endParaRPr lang="en-IN" sz="2800" b="1" u="sng" dirty="0">
              <a:solidFill>
                <a:srgbClr val="FF0000"/>
              </a:solidFill>
              <a:latin typeface="Times New Roman" pitchFamily="18" charset="0"/>
              <a:cs typeface="Times New Roman" pitchFamily="18" charset="0"/>
            </a:endParaRPr>
          </a:p>
          <a:p>
            <a:r>
              <a:rPr lang="en-IN" sz="2200" dirty="0">
                <a:latin typeface="Times New Roman" pitchFamily="18" charset="0"/>
                <a:cs typeface="Times New Roman" pitchFamily="18" charset="0"/>
              </a:rPr>
              <a:t>Over Flow in OHT</a:t>
            </a:r>
          </a:p>
          <a:p>
            <a:r>
              <a:rPr lang="en-IN" sz="2200" dirty="0">
                <a:latin typeface="Times New Roman" pitchFamily="18" charset="0"/>
                <a:cs typeface="Times New Roman" pitchFamily="18" charset="0"/>
              </a:rPr>
              <a:t>Dry Run</a:t>
            </a:r>
          </a:p>
          <a:p>
            <a:r>
              <a:rPr lang="en-IN" sz="2200" dirty="0">
                <a:latin typeface="Times New Roman" pitchFamily="18" charset="0"/>
                <a:cs typeface="Times New Roman" pitchFamily="18" charset="0"/>
              </a:rPr>
              <a:t>Wastage of Electricity</a:t>
            </a:r>
          </a:p>
          <a:p>
            <a:r>
              <a:rPr lang="en-IN" sz="2200" dirty="0">
                <a:latin typeface="Times New Roman" pitchFamily="18" charset="0"/>
                <a:cs typeface="Times New Roman" pitchFamily="18" charset="0"/>
              </a:rPr>
              <a:t>Man Power Usage</a:t>
            </a:r>
          </a:p>
          <a:p>
            <a:r>
              <a:rPr lang="en-IN" sz="2200" dirty="0">
                <a:latin typeface="Times New Roman" pitchFamily="18" charset="0"/>
                <a:cs typeface="Times New Roman" pitchFamily="18" charset="0"/>
              </a:rPr>
              <a:t>Wastage of Water</a:t>
            </a:r>
          </a:p>
          <a:p>
            <a:r>
              <a:rPr lang="en-IN" sz="2200" dirty="0">
                <a:latin typeface="Times New Roman" pitchFamily="18" charset="0"/>
                <a:cs typeface="Times New Roman" pitchFamily="18" charset="0"/>
              </a:rPr>
              <a:t>Tank Level Not Known</a:t>
            </a:r>
          </a:p>
          <a:p>
            <a:endParaRPr lang="en-IN" sz="2800" b="1"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72EF38D4-2E8E-4D1D-AD76-917C28CC6802}"/>
              </a:ext>
            </a:extLst>
          </p:cNvPr>
          <p:cNvSpPr>
            <a:spLocks noGrp="1"/>
          </p:cNvSpPr>
          <p:nvPr>
            <p:ph sz="quarter" idx="2"/>
          </p:nvPr>
        </p:nvSpPr>
        <p:spPr>
          <a:xfrm>
            <a:off x="5434605" y="909321"/>
            <a:ext cx="6521570" cy="3975947"/>
          </a:xfrm>
        </p:spPr>
        <p:txBody>
          <a:bodyPr>
            <a:normAutofit/>
          </a:bodyPr>
          <a:lstStyle/>
          <a:p>
            <a:pPr marL="0" indent="0" algn="ctr">
              <a:buNone/>
            </a:pPr>
            <a:r>
              <a:rPr lang="en-IN" sz="3300" b="1" u="sng" dirty="0">
                <a:solidFill>
                  <a:srgbClr val="92D050"/>
                </a:solidFill>
                <a:latin typeface="Times New Roman" pitchFamily="18" charset="0"/>
                <a:cs typeface="Times New Roman" pitchFamily="18" charset="0"/>
              </a:rPr>
              <a:t>Solutions from </a:t>
            </a:r>
            <a:r>
              <a:rPr lang="en-US" sz="3300" b="1" u="sng" dirty="0">
                <a:solidFill>
                  <a:srgbClr val="92D050"/>
                </a:solidFill>
                <a:latin typeface="Times New Roman" pitchFamily="18" charset="0"/>
                <a:cs typeface="Times New Roman" pitchFamily="18" charset="0"/>
              </a:rPr>
              <a:t>i</a:t>
            </a:r>
            <a:r>
              <a:rPr lang="en-IN" sz="3300" b="1" u="sng" dirty="0">
                <a:solidFill>
                  <a:srgbClr val="92D050"/>
                </a:solidFill>
                <a:latin typeface="Times New Roman" pitchFamily="18" charset="0"/>
                <a:cs typeface="Times New Roman" pitchFamily="18" charset="0"/>
              </a:rPr>
              <a:t>-Tank</a:t>
            </a:r>
          </a:p>
          <a:p>
            <a:pPr marL="0" indent="0" algn="ctr">
              <a:buNone/>
            </a:pPr>
            <a:endParaRPr lang="en-IN" sz="2800" b="1" u="sng" dirty="0">
              <a:solidFill>
                <a:srgbClr val="92D050"/>
              </a:solidFill>
              <a:latin typeface="Times New Roman" pitchFamily="18" charset="0"/>
              <a:cs typeface="Times New Roman" pitchFamily="18" charset="0"/>
            </a:endParaRPr>
          </a:p>
          <a:p>
            <a:r>
              <a:rPr lang="en-IN" sz="2200" dirty="0">
                <a:latin typeface="Times New Roman" pitchFamily="18" charset="0"/>
                <a:cs typeface="Times New Roman" pitchFamily="18" charset="0"/>
              </a:rPr>
              <a:t>Stops Over Flow</a:t>
            </a:r>
          </a:p>
          <a:p>
            <a:r>
              <a:rPr lang="en-IN" sz="2200" dirty="0">
                <a:latin typeface="Times New Roman" pitchFamily="18" charset="0"/>
                <a:cs typeface="Times New Roman" pitchFamily="18" charset="0"/>
              </a:rPr>
              <a:t>Stops Dry Run</a:t>
            </a:r>
          </a:p>
          <a:p>
            <a:r>
              <a:rPr lang="en-IN" sz="2200" dirty="0">
                <a:latin typeface="Times New Roman" pitchFamily="18" charset="0"/>
                <a:cs typeface="Times New Roman" pitchFamily="18" charset="0"/>
              </a:rPr>
              <a:t>Save Usage of Electricity</a:t>
            </a:r>
          </a:p>
          <a:p>
            <a:r>
              <a:rPr lang="en-IN" sz="2200" dirty="0">
                <a:latin typeface="Times New Roman" pitchFamily="18" charset="0"/>
                <a:cs typeface="Times New Roman" pitchFamily="18" charset="0"/>
              </a:rPr>
              <a:t>Accountability for Water Consumption</a:t>
            </a:r>
          </a:p>
          <a:p>
            <a:r>
              <a:rPr lang="en-IN" sz="2200" dirty="0">
                <a:latin typeface="Times New Roman" pitchFamily="18" charset="0"/>
                <a:cs typeface="Times New Roman" pitchFamily="18" charset="0"/>
              </a:rPr>
              <a:t>Tank Level show as </a:t>
            </a:r>
            <a:r>
              <a:rPr lang="en-IN" sz="2200" dirty="0" err="1">
                <a:latin typeface="Times New Roman" pitchFamily="18" charset="0"/>
                <a:cs typeface="Times New Roman" pitchFamily="18" charset="0"/>
              </a:rPr>
              <a:t>cm,ltrs</a:t>
            </a:r>
            <a:r>
              <a:rPr lang="en-IN" sz="2200" dirty="0">
                <a:latin typeface="Times New Roman" pitchFamily="18" charset="0"/>
                <a:cs typeface="Times New Roman" pitchFamily="18" charset="0"/>
              </a:rPr>
              <a:t>,%</a:t>
            </a:r>
          </a:p>
          <a:p>
            <a:r>
              <a:rPr lang="en-IN" sz="2200" dirty="0">
                <a:latin typeface="Times New Roman" pitchFamily="18" charset="0"/>
                <a:cs typeface="Times New Roman" pitchFamily="18" charset="0"/>
              </a:rPr>
              <a:t>Tank Level Alert for Low &amp; High</a:t>
            </a:r>
          </a:p>
          <a:p>
            <a:r>
              <a:rPr lang="en-IN" sz="2200" dirty="0">
                <a:latin typeface="Times New Roman" pitchFamily="18" charset="0"/>
                <a:cs typeface="Times New Roman" pitchFamily="18" charset="0"/>
              </a:rPr>
              <a:t>Manual, Semi &amp; Automatic System</a:t>
            </a:r>
          </a:p>
        </p:txBody>
      </p:sp>
      <p:pic>
        <p:nvPicPr>
          <p:cNvPr id="5"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819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572416" y="1002127"/>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843" t="16931" r="8479" b="18065"/>
          <a:stretch/>
        </p:blipFill>
        <p:spPr>
          <a:xfrm>
            <a:off x="7999440" y="976499"/>
            <a:ext cx="595037" cy="542952"/>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746060">
            <a:off x="8012814" y="4232181"/>
            <a:ext cx="743429" cy="685009"/>
          </a:xfrm>
          <a:prstGeom prst="rect">
            <a:avLst/>
          </a:prstGeom>
        </p:spPr>
      </p:pic>
      <p:sp>
        <p:nvSpPr>
          <p:cNvPr id="12" name="Flowchart: Process 11">
            <a:extLst>
              <a:ext uri="{FF2B5EF4-FFF2-40B4-BE49-F238E27FC236}">
                <a16:creationId xmlns:a16="http://schemas.microsoft.com/office/drawing/2014/main" id="{DE47567A-8AEB-4470-ABC8-DD727125A46A}"/>
              </a:ext>
            </a:extLst>
          </p:cNvPr>
          <p:cNvSpPr/>
          <p:nvPr/>
        </p:nvSpPr>
        <p:spPr>
          <a:xfrm>
            <a:off x="4058315" y="1014599"/>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MASTER</a:t>
            </a:r>
          </a:p>
        </p:txBody>
      </p:sp>
      <p:sp>
        <p:nvSpPr>
          <p:cNvPr id="13" name="Flowchart: Process 12">
            <a:extLst>
              <a:ext uri="{FF2B5EF4-FFF2-40B4-BE49-F238E27FC236}">
                <a16:creationId xmlns:a16="http://schemas.microsoft.com/office/drawing/2014/main" id="{DE47567A-8AEB-4470-ABC8-DD727125A46A}"/>
              </a:ext>
            </a:extLst>
          </p:cNvPr>
          <p:cNvSpPr/>
          <p:nvPr/>
        </p:nvSpPr>
        <p:spPr>
          <a:xfrm>
            <a:off x="2572415" y="180516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T</a:t>
            </a:r>
          </a:p>
        </p:txBody>
      </p:sp>
      <p:sp>
        <p:nvSpPr>
          <p:cNvPr id="14" name="Flowchart: Process 13">
            <a:extLst>
              <a:ext uri="{FF2B5EF4-FFF2-40B4-BE49-F238E27FC236}">
                <a16:creationId xmlns:a16="http://schemas.microsoft.com/office/drawing/2014/main" id="{DE47567A-8AEB-4470-ABC8-DD727125A46A}"/>
              </a:ext>
            </a:extLst>
          </p:cNvPr>
          <p:cNvSpPr/>
          <p:nvPr/>
        </p:nvSpPr>
        <p:spPr>
          <a:xfrm>
            <a:off x="4067192" y="1805165"/>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TRANSMITTER</a:t>
            </a:r>
          </a:p>
        </p:txBody>
      </p:sp>
      <p:sp>
        <p:nvSpPr>
          <p:cNvPr id="15" name="Flowchart: Process 14">
            <a:extLst>
              <a:ext uri="{FF2B5EF4-FFF2-40B4-BE49-F238E27FC236}">
                <a16:creationId xmlns:a16="http://schemas.microsoft.com/office/drawing/2014/main" id="{DE47567A-8AEB-4470-ABC8-DD727125A46A}"/>
              </a:ext>
            </a:extLst>
          </p:cNvPr>
          <p:cNvSpPr/>
          <p:nvPr/>
        </p:nvSpPr>
        <p:spPr>
          <a:xfrm>
            <a:off x="2572416" y="4294828"/>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LLS</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4079758" y="429482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LINEAR LEVEL SENSOR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sp>
        <p:nvSpPr>
          <p:cNvPr id="23" name="Flowchart: Process 22">
            <a:extLst>
              <a:ext uri="{FF2B5EF4-FFF2-40B4-BE49-F238E27FC236}">
                <a16:creationId xmlns:a16="http://schemas.microsoft.com/office/drawing/2014/main" id="{DE47567A-8AEB-4470-ABC8-DD727125A46A}"/>
              </a:ext>
            </a:extLst>
          </p:cNvPr>
          <p:cNvSpPr/>
          <p:nvPr/>
        </p:nvSpPr>
        <p:spPr>
          <a:xfrm>
            <a:off x="2575674" y="5021758"/>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MV</a:t>
            </a:r>
          </a:p>
        </p:txBody>
      </p:sp>
      <p:sp>
        <p:nvSpPr>
          <p:cNvPr id="24" name="Flowchart: Process 23">
            <a:extLst>
              <a:ext uri="{FF2B5EF4-FFF2-40B4-BE49-F238E27FC236}">
                <a16:creationId xmlns:a16="http://schemas.microsoft.com/office/drawing/2014/main" id="{DE47567A-8AEB-4470-ABC8-DD727125A46A}"/>
              </a:ext>
            </a:extLst>
          </p:cNvPr>
          <p:cNvSpPr/>
          <p:nvPr/>
        </p:nvSpPr>
        <p:spPr>
          <a:xfrm>
            <a:off x="4067841" y="502175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 MOTORIZED VALVE</a:t>
            </a:r>
          </a:p>
        </p:txBody>
      </p:sp>
      <p:sp>
        <p:nvSpPr>
          <p:cNvPr id="25" name="Flowchart: Process 24">
            <a:extLst>
              <a:ext uri="{FF2B5EF4-FFF2-40B4-BE49-F238E27FC236}">
                <a16:creationId xmlns:a16="http://schemas.microsoft.com/office/drawing/2014/main" id="{DE47567A-8AEB-4470-ABC8-DD727125A46A}"/>
              </a:ext>
            </a:extLst>
          </p:cNvPr>
          <p:cNvSpPr/>
          <p:nvPr/>
        </p:nvSpPr>
        <p:spPr>
          <a:xfrm>
            <a:off x="2575673" y="5754110"/>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VCU</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4084194" y="5736133"/>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 UNIT</a:t>
            </a:r>
          </a:p>
        </p:txBody>
      </p:sp>
      <p:pic>
        <p:nvPicPr>
          <p:cNvPr id="27" name="Picture 2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39956" y="5754110"/>
            <a:ext cx="855809" cy="514577"/>
          </a:xfrm>
          <a:prstGeom prst="rect">
            <a:avLst/>
          </a:prstGeom>
        </p:spPr>
      </p:pic>
      <p:sp>
        <p:nvSpPr>
          <p:cNvPr id="32" name="Flowchart: Process 31">
            <a:extLst>
              <a:ext uri="{FF2B5EF4-FFF2-40B4-BE49-F238E27FC236}">
                <a16:creationId xmlns:a16="http://schemas.microsoft.com/office/drawing/2014/main" id="{DE47567A-8AEB-4470-ABC8-DD727125A46A}"/>
              </a:ext>
            </a:extLst>
          </p:cNvPr>
          <p:cNvSpPr/>
          <p:nvPr/>
        </p:nvSpPr>
        <p:spPr>
          <a:xfrm>
            <a:off x="2575673" y="3483071"/>
            <a:ext cx="943906" cy="603995"/>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FF0000"/>
                </a:solidFill>
                <a:latin typeface="Times New Roman" pitchFamily="18" charset="0"/>
                <a:cs typeface="Times New Roman" pitchFamily="18" charset="0"/>
              </a:rPr>
              <a:t>DWG</a:t>
            </a:r>
          </a:p>
        </p:txBody>
      </p:sp>
      <p:sp>
        <p:nvSpPr>
          <p:cNvPr id="33" name="Flowchart: Process 32">
            <a:extLst>
              <a:ext uri="{FF2B5EF4-FFF2-40B4-BE49-F238E27FC236}">
                <a16:creationId xmlns:a16="http://schemas.microsoft.com/office/drawing/2014/main" id="{DE47567A-8AEB-4470-ABC8-DD727125A46A}"/>
              </a:ext>
            </a:extLst>
          </p:cNvPr>
          <p:cNvSpPr/>
          <p:nvPr/>
        </p:nvSpPr>
        <p:spPr>
          <a:xfrm>
            <a:off x="4086552" y="350521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0070C0"/>
                </a:solidFill>
                <a:latin typeface="Times New Roman" pitchFamily="18" charset="0"/>
                <a:cs typeface="Times New Roman" pitchFamily="18" charset="0"/>
              </a:rPr>
              <a:t>DISPLAY WITH GSM</a:t>
            </a:r>
          </a:p>
        </p:txBody>
      </p:sp>
      <p:pic>
        <p:nvPicPr>
          <p:cNvPr id="22" name="Picture 21"/>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23912"/>
          <a:stretch/>
        </p:blipFill>
        <p:spPr>
          <a:xfrm>
            <a:off x="8172179" y="2552274"/>
            <a:ext cx="496616" cy="663471"/>
          </a:xfrm>
          <a:prstGeom prst="rect">
            <a:avLst/>
          </a:prstGeom>
        </p:spPr>
      </p:pic>
      <p:sp>
        <p:nvSpPr>
          <p:cNvPr id="28" name="Flowchart: Process 27">
            <a:extLst>
              <a:ext uri="{FF2B5EF4-FFF2-40B4-BE49-F238E27FC236}">
                <a16:creationId xmlns:a16="http://schemas.microsoft.com/office/drawing/2014/main" id="{DE47567A-8AEB-4470-ABC8-DD727125A46A}"/>
              </a:ext>
            </a:extLst>
          </p:cNvPr>
          <p:cNvSpPr/>
          <p:nvPr/>
        </p:nvSpPr>
        <p:spPr>
          <a:xfrm>
            <a:off x="2569547" y="2656271"/>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R</a:t>
            </a:r>
          </a:p>
        </p:txBody>
      </p:sp>
      <p:sp>
        <p:nvSpPr>
          <p:cNvPr id="30" name="Flowchart: Process 29">
            <a:extLst>
              <a:ext uri="{FF2B5EF4-FFF2-40B4-BE49-F238E27FC236}">
                <a16:creationId xmlns:a16="http://schemas.microsoft.com/office/drawing/2014/main" id="{DE47567A-8AEB-4470-ABC8-DD727125A46A}"/>
              </a:ext>
            </a:extLst>
          </p:cNvPr>
          <p:cNvSpPr/>
          <p:nvPr/>
        </p:nvSpPr>
        <p:spPr>
          <a:xfrm>
            <a:off x="4064324" y="265627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REPEATER</a:t>
            </a: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rot="16200000">
            <a:off x="8049196" y="5137393"/>
            <a:ext cx="630286" cy="396815"/>
          </a:xfrm>
          <a:prstGeom prst="rect">
            <a:avLst/>
          </a:prstGeom>
        </p:spPr>
      </p:pic>
      <p:pic>
        <p:nvPicPr>
          <p:cNvPr id="4" name="Picture 3"/>
          <p:cNvPicPr>
            <a:picLocks noChangeAspect="1"/>
          </p:cNvPicPr>
          <p:nvPr/>
        </p:nvPicPr>
        <p:blipFill rotWithShape="1">
          <a:blip r:embed="rId8" cstate="print">
            <a:extLst>
              <a:ext uri="{28A0092B-C50C-407E-A947-70E740481C1C}">
                <a14:useLocalDpi xmlns:a14="http://schemas.microsoft.com/office/drawing/2010/main" val="0"/>
              </a:ext>
            </a:extLst>
          </a:blip>
          <a:srcRect l="2134" t="10314" r="3677" b="10314"/>
          <a:stretch/>
        </p:blipFill>
        <p:spPr>
          <a:xfrm>
            <a:off x="7970949" y="3498329"/>
            <a:ext cx="878854" cy="592475"/>
          </a:xfrm>
          <a:prstGeom prst="rect">
            <a:avLst/>
          </a:prstGeom>
        </p:spPr>
      </p:pic>
      <p:pic>
        <p:nvPicPr>
          <p:cNvPr id="29" name="Picture 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45330" y="1731325"/>
            <a:ext cx="449147" cy="70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422400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339514" y="1029932"/>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SMC</a:t>
            </a:r>
          </a:p>
        </p:txBody>
      </p:sp>
      <p:sp>
        <p:nvSpPr>
          <p:cNvPr id="12" name="Flowchart: Process 11">
            <a:extLst>
              <a:ext uri="{FF2B5EF4-FFF2-40B4-BE49-F238E27FC236}">
                <a16:creationId xmlns:a16="http://schemas.microsoft.com/office/drawing/2014/main" id="{DE47567A-8AEB-4470-ABC8-DD727125A46A}"/>
              </a:ext>
            </a:extLst>
          </p:cNvPr>
          <p:cNvSpPr/>
          <p:nvPr/>
        </p:nvSpPr>
        <p:spPr>
          <a:xfrm>
            <a:off x="3851291" y="1014599"/>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SMART MOTOR CONTROLLER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pic>
        <p:nvPicPr>
          <p:cNvPr id="1026" name="Picture 2" descr="D:\ITANK ITANK\I Tank Symbol\HD Photos\SMC.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9397" b="10783"/>
          <a:stretch/>
        </p:blipFill>
        <p:spPr bwMode="auto">
          <a:xfrm>
            <a:off x="8867953" y="1009960"/>
            <a:ext cx="707037" cy="564355"/>
          </a:xfrm>
          <a:prstGeom prst="rect">
            <a:avLst/>
          </a:prstGeom>
          <a:noFill/>
          <a:extLst>
            <a:ext uri="{909E8E84-426E-40DD-AFC4-6F175D3DCCD1}">
              <a14:hiddenFill xmlns:a14="http://schemas.microsoft.com/office/drawing/2010/main">
                <a:solidFill>
                  <a:srgbClr val="FFFFFF"/>
                </a:solidFill>
              </a14:hiddenFill>
            </a:ext>
          </a:extLst>
        </p:spPr>
      </p:pic>
      <p:sp>
        <p:nvSpPr>
          <p:cNvPr id="29" name="Flowchart: Process 28">
            <a:extLst>
              <a:ext uri="{FF2B5EF4-FFF2-40B4-BE49-F238E27FC236}">
                <a16:creationId xmlns:a16="http://schemas.microsoft.com/office/drawing/2014/main" id="{DE47567A-8AEB-4470-ABC8-DD727125A46A}"/>
              </a:ext>
            </a:extLst>
          </p:cNvPr>
          <p:cNvSpPr/>
          <p:nvPr/>
        </p:nvSpPr>
        <p:spPr>
          <a:xfrm>
            <a:off x="2336646" y="1855160"/>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VCT</a:t>
            </a:r>
          </a:p>
        </p:txBody>
      </p:sp>
      <p:sp>
        <p:nvSpPr>
          <p:cNvPr id="31" name="Flowchart: Process 30">
            <a:extLst>
              <a:ext uri="{FF2B5EF4-FFF2-40B4-BE49-F238E27FC236}">
                <a16:creationId xmlns:a16="http://schemas.microsoft.com/office/drawing/2014/main" id="{DE47567A-8AEB-4470-ABC8-DD727125A46A}"/>
              </a:ext>
            </a:extLst>
          </p:cNvPr>
          <p:cNvSpPr/>
          <p:nvPr/>
        </p:nvSpPr>
        <p:spPr>
          <a:xfrm>
            <a:off x="3848423" y="1839827"/>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CONTROLLER</a:t>
            </a:r>
          </a:p>
        </p:txBody>
      </p:sp>
      <p:pic>
        <p:nvPicPr>
          <p:cNvPr id="1027" name="Picture 3" descr="D:\ITANK ITANK\I Tank Symbol\HD Photos\VC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631" t="12971" r="26014" b="9374"/>
          <a:stretch/>
        </p:blipFill>
        <p:spPr bwMode="auto">
          <a:xfrm>
            <a:off x="8901899" y="1770314"/>
            <a:ext cx="639144" cy="6987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76457"/>
            <a:ext cx="818090" cy="402811"/>
          </a:xfrm>
          <a:prstGeom prst="rect">
            <a:avLst/>
          </a:prstGeom>
          <a:noFill/>
        </p:spPr>
      </p:pic>
      <p:sp>
        <p:nvSpPr>
          <p:cNvPr id="15" name="Flowchart: Process 14">
            <a:extLst>
              <a:ext uri="{FF2B5EF4-FFF2-40B4-BE49-F238E27FC236}">
                <a16:creationId xmlns:a16="http://schemas.microsoft.com/office/drawing/2014/main" id="{DE47567A-8AEB-4470-ABC8-DD727125A46A}"/>
              </a:ext>
            </a:extLst>
          </p:cNvPr>
          <p:cNvSpPr/>
          <p:nvPr/>
        </p:nvSpPr>
        <p:spPr>
          <a:xfrm>
            <a:off x="2336640" y="264219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D</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3843982" y="2642195"/>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DISPLAY</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1899" y="2608328"/>
            <a:ext cx="895475" cy="647790"/>
          </a:xfrm>
          <a:prstGeom prst="rect">
            <a:avLst/>
          </a:prstGeom>
        </p:spPr>
      </p:pic>
      <p:sp>
        <p:nvSpPr>
          <p:cNvPr id="18" name="Flowchart: Process 17">
            <a:extLst>
              <a:ext uri="{FF2B5EF4-FFF2-40B4-BE49-F238E27FC236}">
                <a16:creationId xmlns:a16="http://schemas.microsoft.com/office/drawing/2014/main" id="{DE47567A-8AEB-4470-ABC8-DD727125A46A}"/>
              </a:ext>
            </a:extLst>
          </p:cNvPr>
          <p:cNvSpPr/>
          <p:nvPr/>
        </p:nvSpPr>
        <p:spPr>
          <a:xfrm>
            <a:off x="2336634" y="4174716"/>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PRV</a:t>
            </a:r>
          </a:p>
        </p:txBody>
      </p:sp>
      <p:sp>
        <p:nvSpPr>
          <p:cNvPr id="19" name="Flowchart: Process 18">
            <a:extLst>
              <a:ext uri="{FF2B5EF4-FFF2-40B4-BE49-F238E27FC236}">
                <a16:creationId xmlns:a16="http://schemas.microsoft.com/office/drawing/2014/main" id="{DE47567A-8AEB-4470-ABC8-DD727125A46A}"/>
              </a:ext>
            </a:extLst>
          </p:cNvPr>
          <p:cNvSpPr/>
          <p:nvPr/>
        </p:nvSpPr>
        <p:spPr>
          <a:xfrm>
            <a:off x="3843976" y="4174716"/>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PRESSURE RELIEF VALVE</a:t>
            </a:r>
          </a:p>
        </p:txBody>
      </p:sp>
      <p:sp>
        <p:nvSpPr>
          <p:cNvPr id="20" name="Flowchart: Process 19">
            <a:extLst>
              <a:ext uri="{FF2B5EF4-FFF2-40B4-BE49-F238E27FC236}">
                <a16:creationId xmlns:a16="http://schemas.microsoft.com/office/drawing/2014/main" id="{DE47567A-8AEB-4470-ABC8-DD727125A46A}"/>
              </a:ext>
            </a:extLst>
          </p:cNvPr>
          <p:cNvSpPr/>
          <p:nvPr/>
        </p:nvSpPr>
        <p:spPr>
          <a:xfrm>
            <a:off x="2336628" y="4996009"/>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NRV</a:t>
            </a:r>
          </a:p>
        </p:txBody>
      </p:sp>
      <p:sp>
        <p:nvSpPr>
          <p:cNvPr id="22" name="Flowchart: Process 21">
            <a:extLst>
              <a:ext uri="{FF2B5EF4-FFF2-40B4-BE49-F238E27FC236}">
                <a16:creationId xmlns:a16="http://schemas.microsoft.com/office/drawing/2014/main" id="{DE47567A-8AEB-4470-ABC8-DD727125A46A}"/>
              </a:ext>
            </a:extLst>
          </p:cNvPr>
          <p:cNvSpPr/>
          <p:nvPr/>
        </p:nvSpPr>
        <p:spPr>
          <a:xfrm>
            <a:off x="3843970" y="4996009"/>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NON-RETURN VALVE</a:t>
            </a:r>
          </a:p>
        </p:txBody>
      </p:sp>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r="4071" b="13918"/>
          <a:stretch/>
        </p:blipFill>
        <p:spPr>
          <a:xfrm>
            <a:off x="8901899" y="4174716"/>
            <a:ext cx="719702" cy="483748"/>
          </a:xfrm>
          <a:prstGeom prst="rect">
            <a:avLst/>
          </a:prstGeom>
        </p:spPr>
      </p:pic>
      <p:pic>
        <p:nvPicPr>
          <p:cNvPr id="24" name="Picture 3" descr="D:\ITANK ITANK\I Tank Symbol\nrv.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5795" y="4996009"/>
            <a:ext cx="551351" cy="551351"/>
          </a:xfrm>
          <a:prstGeom prst="rect">
            <a:avLst/>
          </a:prstGeom>
          <a:noFill/>
          <a:extLst>
            <a:ext uri="{909E8E84-426E-40DD-AFC4-6F175D3DCCD1}">
              <a14:hiddenFill xmlns:a14="http://schemas.microsoft.com/office/drawing/2010/main">
                <a:solidFill>
                  <a:srgbClr val="FFFFFF"/>
                </a:solidFill>
              </a14:hiddenFill>
            </a:ext>
          </a:extLst>
        </p:spPr>
      </p:pic>
      <p:sp>
        <p:nvSpPr>
          <p:cNvPr id="25" name="Flowchart: Process 24">
            <a:extLst>
              <a:ext uri="{FF2B5EF4-FFF2-40B4-BE49-F238E27FC236}">
                <a16:creationId xmlns:a16="http://schemas.microsoft.com/office/drawing/2014/main" id="{DE47567A-8AEB-4470-ABC8-DD727125A46A}"/>
              </a:ext>
            </a:extLst>
          </p:cNvPr>
          <p:cNvSpPr/>
          <p:nvPr/>
        </p:nvSpPr>
        <p:spPr>
          <a:xfrm>
            <a:off x="2336634" y="3429620"/>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FM</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3843976" y="3429620"/>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FLOWMETER</a:t>
            </a:r>
          </a:p>
        </p:txBody>
      </p:sp>
      <p:pic>
        <p:nvPicPr>
          <p:cNvPr id="27" name="Picture 26"/>
          <p:cNvPicPr>
            <a:picLocks noChangeAspect="1"/>
          </p:cNvPicPr>
          <p:nvPr/>
        </p:nvPicPr>
        <p:blipFill rotWithShape="1">
          <a:blip r:embed="rId8" cstate="print">
            <a:extLst>
              <a:ext uri="{28A0092B-C50C-407E-A947-70E740481C1C}">
                <a14:useLocalDpi xmlns:a14="http://schemas.microsoft.com/office/drawing/2010/main" val="0"/>
              </a:ext>
            </a:extLst>
          </a:blip>
          <a:srcRect l="3812" t="5599" r="-2"/>
          <a:stretch/>
        </p:blipFill>
        <p:spPr>
          <a:xfrm>
            <a:off x="9061510" y="3443235"/>
            <a:ext cx="615888" cy="582272"/>
          </a:xfrm>
          <a:prstGeom prst="rect">
            <a:avLst/>
          </a:prstGeom>
        </p:spPr>
      </p:pic>
      <p:pic>
        <p:nvPicPr>
          <p:cNvPr id="28" name="Picture 27" descr="Full Bore Electromagnetic Liquid Flow Meter | tradekorea">
            <a:extLst>
              <a:ext uri="{FF2B5EF4-FFF2-40B4-BE49-F238E27FC236}">
                <a16:creationId xmlns:a16="http://schemas.microsoft.com/office/drawing/2014/main" id="{BDF8363F-8DC5-4D00-AE82-E75C761E9C3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8748" t="10608" r="17378" b="8526"/>
          <a:stretch/>
        </p:blipFill>
        <p:spPr bwMode="auto">
          <a:xfrm>
            <a:off x="9825860" y="3487121"/>
            <a:ext cx="450293" cy="56286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D52F204-5D54-BC6C-3524-24B90F5E7597}"/>
              </a:ext>
            </a:extLst>
          </p:cNvPr>
          <p:cNvPicPr>
            <a:picLocks noChangeAspect="1"/>
          </p:cNvPicPr>
          <p:nvPr/>
        </p:nvPicPr>
        <p:blipFill>
          <a:blip r:embed="rId10"/>
          <a:stretch>
            <a:fillRect/>
          </a:stretch>
        </p:blipFill>
        <p:spPr>
          <a:xfrm rot="1099291">
            <a:off x="10491236" y="3519586"/>
            <a:ext cx="657857" cy="529955"/>
          </a:xfrm>
          <a:prstGeom prst="rect">
            <a:avLst/>
          </a:prstGeom>
        </p:spPr>
      </p:pic>
    </p:spTree>
    <p:extLst>
      <p:ext uri="{BB962C8B-B14F-4D97-AF65-F5344CB8AC3E}">
        <p14:creationId xmlns:p14="http://schemas.microsoft.com/office/powerpoint/2010/main" val="448144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3482591193"/>
              </p:ext>
            </p:extLst>
          </p:nvPr>
        </p:nvGraphicFramePr>
        <p:xfrm>
          <a:off x="206991" y="673156"/>
          <a:ext cx="11778017" cy="5614399"/>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363679">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J BLOCK OHT, RAW WATER SUMP TO K BLOCK OHT &amp; J BLOCK OHT </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2,56,473 </a:t>
                      </a:r>
                    </a:p>
                  </a:txBody>
                  <a:tcPr anchor="ctr"/>
                </a:tc>
                <a:extLst>
                  <a:ext uri="{0D108BD9-81ED-4DB2-BD59-A6C34878D82A}">
                    <a16:rowId xmlns:a16="http://schemas.microsoft.com/office/drawing/2014/main" val="10002"/>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2 OHT TANKS, PHARMACY BORE TO PHARMACY SUMP</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SUMP TO PHARMACY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58209767"/>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RO WATER SUMP TO A BLOCK GIRLS HOSTEL OHT, GRAVITY LINE (PHARMACY J BLOCK OHT &amp; EEE BLOCK OHT)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2,22,548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SUMP TO H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365968040"/>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2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G &amp; I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865956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J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93257464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FOOD COURT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91633073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I BLOCK OHT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1,84,552</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PLACEMENT C BLOCK SUMP TO 3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2,63,258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27099769"/>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70524825"/>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142897"/>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9669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62405698"/>
              </p:ext>
            </p:extLst>
          </p:nvPr>
        </p:nvGraphicFramePr>
        <p:xfrm>
          <a:off x="206991" y="579151"/>
          <a:ext cx="11778017" cy="6093512"/>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289978">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G BLOCK OHT &amp; RO RAW WATER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anose="02020603050405020304" pitchFamily="18" charset="0"/>
                        </a:rPr>
                        <a:t>1,84,552</a:t>
                      </a:r>
                      <a:endParaRPr lang="en-IN" sz="1200" b="1" i="0" u="none" strike="noStrike" dirty="0">
                        <a:solidFill>
                          <a:srgbClr val="000000"/>
                        </a:solidFill>
                        <a:effectLst/>
                        <a:latin typeface="Times New Roman" panose="02020603050405020304" pitchFamily="18" charset="0"/>
                      </a:endParaRPr>
                    </a:p>
                  </a:txBody>
                  <a:tcPr anchor="ctr"/>
                </a:tc>
                <a:extLst>
                  <a:ext uri="{0D108BD9-81ED-4DB2-BD59-A6C34878D82A}">
                    <a16:rowId xmlns:a16="http://schemas.microsoft.com/office/drawing/2014/main" val="10002"/>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B BLOCK OHT &amp; E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A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73,278 </a:t>
                      </a:r>
                    </a:p>
                  </a:txBody>
                  <a:tcPr anchor="ctr"/>
                </a:tc>
                <a:extLst>
                  <a:ext uri="{0D108BD9-81ED-4DB2-BD59-A6C34878D82A}">
                    <a16:rowId xmlns:a16="http://schemas.microsoft.com/office/drawing/2014/main" val="1258209767"/>
                  </a:ext>
                </a:extLst>
              </a:tr>
              <a:tr h="3439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Times New Roman" pitchFamily="18" charset="0"/>
                          <a:cs typeface="Times New Roman" pitchFamily="18" charset="0"/>
                        </a:rPr>
                        <a:t>21,60,344</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163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sng" dirty="0">
                          <a:solidFill>
                            <a:schemeClr val="tx1"/>
                          </a:solidFill>
                          <a:latin typeface="Times New Roman" pitchFamily="18" charset="0"/>
                          <a:cs typeface="Times New Roman" pitchFamily="18" charset="0"/>
                        </a:rPr>
                        <a:t>INLET LINES</a:t>
                      </a: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MEDICAL COLLEGE BORE TO 2 SUMPS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365968040"/>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NURSING SUMP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J BLOCK BORE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18,320 </a:t>
                      </a:r>
                    </a:p>
                  </a:txBody>
                  <a:tcPr anchor="ctr"/>
                </a:tc>
                <a:extLst>
                  <a:ext uri="{0D108BD9-81ED-4DB2-BD59-A6C34878D82A}">
                    <a16:rowId xmlns:a16="http://schemas.microsoft.com/office/drawing/2014/main" val="865956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BORE TO 2 SUMPS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93257464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STP BORE TO WELL</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64,458 </a:t>
                      </a:r>
                    </a:p>
                  </a:txBody>
                  <a:tcPr anchor="ctr"/>
                </a:tc>
                <a:extLst>
                  <a:ext uri="{0D108BD9-81ED-4DB2-BD59-A6C34878D82A}">
                    <a16:rowId xmlns:a16="http://schemas.microsoft.com/office/drawing/2014/main" val="391633073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WELL TO H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83,456</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EEE BLOCK BORE, D BLOCK BORE, M BLOCK SUMP, GIRLS HOSTEL SUMP TO OLD BOYS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1,47,235 </a:t>
                      </a:r>
                    </a:p>
                  </a:txBody>
                  <a:tcPr anchor="ctr"/>
                </a:tc>
                <a:extLst>
                  <a:ext uri="{0D108BD9-81ED-4DB2-BD59-A6C34878D82A}">
                    <a16:rowId xmlns:a16="http://schemas.microsoft.com/office/drawing/2014/main" val="242709976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 BLOCK BORE TO PLACEMENT C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127052482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MBA BLOCK BORE TO 2 SUMPS, MAIN GATE GARDEN BORE TO GIRS HOSTE SUMP, E BLOCK BORE TO RO RAW SUMP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3,40,607 </a:t>
                      </a:r>
                    </a:p>
                  </a:txBody>
                  <a:tcPr anchor="ctr"/>
                </a:tc>
                <a:extLst>
                  <a:ext uri="{0D108BD9-81ED-4DB2-BD59-A6C34878D82A}">
                    <a16:rowId xmlns:a16="http://schemas.microsoft.com/office/drawing/2014/main" val="302858582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MAIN GATE A BLOCK BORE TO MAIN GATE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2359493944"/>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BORE TO PHARMACY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54,280</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25264840"/>
                  </a:ext>
                </a:extLst>
              </a:tr>
              <a:tr h="30587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a:solidFill>
                            <a:srgbClr val="000000"/>
                          </a:solidFill>
                          <a:effectLst/>
                          <a:latin typeface="Times New Roman" pitchFamily="18" charset="0"/>
                          <a:cs typeface="Times New Roman" pitchFamily="18" charset="0"/>
                        </a:rPr>
                        <a:t>12,64,726</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934945591"/>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83075"/>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3605357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207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1124" y="1112182"/>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468187" y="2094206"/>
            <a:ext cx="928459" cy="230832"/>
          </a:xfrm>
          <a:prstGeom prst="rect">
            <a:avLst/>
          </a:prstGeom>
          <a:noFill/>
        </p:spPr>
        <p:txBody>
          <a:bodyPr wrap="none" rtlCol="0">
            <a:spAutoFit/>
          </a:bodyPr>
          <a:lstStyle/>
          <a:p>
            <a:r>
              <a:rPr lang="en-US" sz="900" b="1" dirty="0">
                <a:latin typeface="Times New Roman" pitchFamily="18" charset="0"/>
                <a:cs typeface="Times New Roman" pitchFamily="18" charset="0"/>
              </a:rPr>
              <a:t>APARTMENT</a:t>
            </a:r>
            <a:endParaRPr lang="en-IN" sz="900" b="1" dirty="0">
              <a:latin typeface="Times New Roman" pitchFamily="18" charset="0"/>
              <a:cs typeface="Times New Roman" pitchFamily="18" charset="0"/>
            </a:endParaRPr>
          </a:p>
        </p:txBody>
      </p:sp>
      <p:sp>
        <p:nvSpPr>
          <p:cNvPr id="60" name="TextBox 59"/>
          <p:cNvSpPr txBox="1"/>
          <p:nvPr/>
        </p:nvSpPr>
        <p:spPr>
          <a:xfrm>
            <a:off x="2535177" y="1112183"/>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2543663" y="3045648"/>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3237951" y="3037175"/>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a:t>
            </a:r>
            <a:endParaRPr lang="en-IN" sz="700" b="1" dirty="0">
              <a:latin typeface="Times New Roman" pitchFamily="18" charset="0"/>
              <a:cs typeface="Times New Roman" pitchFamily="18" charset="0"/>
            </a:endParaRPr>
          </a:p>
        </p:txBody>
      </p:sp>
      <p:sp>
        <p:nvSpPr>
          <p:cNvPr id="63" name="TextBox 62"/>
          <p:cNvSpPr txBox="1"/>
          <p:nvPr/>
        </p:nvSpPr>
        <p:spPr>
          <a:xfrm>
            <a:off x="4265620" y="3037169"/>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4" name="TextBox 63"/>
          <p:cNvSpPr txBox="1"/>
          <p:nvPr/>
        </p:nvSpPr>
        <p:spPr>
          <a:xfrm>
            <a:off x="2391251" y="4019347"/>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65" name="TextBox 64"/>
          <p:cNvSpPr txBox="1"/>
          <p:nvPr/>
        </p:nvSpPr>
        <p:spPr>
          <a:xfrm>
            <a:off x="3263346" y="40362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4110040" y="40278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2416646" y="5026914"/>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3288741" y="50353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4135435" y="50269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7" y="4513393"/>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4" y="452185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40" y="452111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6" y="550184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3" y="551030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39" y="5509566"/>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5930" y="5033802"/>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589" y="4019347"/>
            <a:ext cx="1728314"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536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EE9A7ADA-D8F7-5A5A-06AC-1C5DC952026C}"/>
              </a:ext>
            </a:extLst>
          </p:cNvPr>
          <p:cNvPicPr>
            <a:picLocks noChangeAspect="1"/>
          </p:cNvPicPr>
          <p:nvPr/>
        </p:nvPicPr>
        <p:blipFill>
          <a:blip r:embed="rId5"/>
          <a:stretch>
            <a:fillRect/>
          </a:stretch>
        </p:blipFill>
        <p:spPr>
          <a:xfrm>
            <a:off x="2217032" y="1123160"/>
            <a:ext cx="2799349" cy="4967503"/>
          </a:xfrm>
          <a:prstGeom prst="rect">
            <a:avLst/>
          </a:prstGeom>
        </p:spPr>
      </p:pic>
      <p:sp>
        <p:nvSpPr>
          <p:cNvPr id="60" name="TextBox 59"/>
          <p:cNvSpPr txBox="1"/>
          <p:nvPr/>
        </p:nvSpPr>
        <p:spPr>
          <a:xfrm>
            <a:off x="2513873" y="1106370"/>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11" name="TextBox 10"/>
          <p:cNvSpPr txBox="1"/>
          <p:nvPr/>
        </p:nvSpPr>
        <p:spPr>
          <a:xfrm>
            <a:off x="2462597" y="2101311"/>
            <a:ext cx="886781" cy="230832"/>
          </a:xfrm>
          <a:prstGeom prst="rect">
            <a:avLst/>
          </a:prstGeom>
          <a:noFill/>
        </p:spPr>
        <p:txBody>
          <a:bodyPr wrap="none" rtlCol="0">
            <a:spAutoFit/>
          </a:bodyPr>
          <a:lstStyle/>
          <a:p>
            <a:r>
              <a:rPr lang="en-US" sz="900" b="1" dirty="0">
                <a:latin typeface="Times New Roman" pitchFamily="18" charset="0"/>
                <a:cs typeface="Times New Roman" pitchFamily="18" charset="0"/>
              </a:rPr>
              <a:t>BORE WELL</a:t>
            </a:r>
            <a:endParaRPr lang="en-IN" sz="900" b="1"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0584AEBF-6A2C-AF05-A931-7A8B87CF2D2B}"/>
              </a:ext>
            </a:extLst>
          </p:cNvPr>
          <p:cNvSpPr txBox="1"/>
          <p:nvPr/>
        </p:nvSpPr>
        <p:spPr>
          <a:xfrm>
            <a:off x="2457657" y="3996951"/>
            <a:ext cx="992579" cy="230832"/>
          </a:xfrm>
          <a:prstGeom prst="rect">
            <a:avLst/>
          </a:prstGeom>
          <a:noFill/>
        </p:spPr>
        <p:txBody>
          <a:bodyPr wrap="none" rtlCol="0">
            <a:spAutoFit/>
          </a:bodyPr>
          <a:lstStyle/>
          <a:p>
            <a:r>
              <a:rPr lang="en-US" sz="900" b="1" dirty="0">
                <a:latin typeface="Times New Roman" pitchFamily="18" charset="0"/>
                <a:cs typeface="Times New Roman" pitchFamily="18" charset="0"/>
              </a:rPr>
              <a:t>SUMP TO OHT</a:t>
            </a:r>
            <a:endParaRPr lang="en-IN" sz="900" b="1" dirty="0">
              <a:latin typeface="Times New Roman" pitchFamily="18" charset="0"/>
              <a:cs typeface="Times New Roman" pitchFamily="18" charset="0"/>
            </a:endParaRPr>
          </a:p>
        </p:txBody>
      </p:sp>
      <p:sp>
        <p:nvSpPr>
          <p:cNvPr id="88" name="TextBox 87"/>
          <p:cNvSpPr txBox="1"/>
          <p:nvPr/>
        </p:nvSpPr>
        <p:spPr>
          <a:xfrm>
            <a:off x="3283922" y="5025011"/>
            <a:ext cx="665567"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87" name="TextBox 86"/>
          <p:cNvSpPr txBox="1"/>
          <p:nvPr/>
        </p:nvSpPr>
        <p:spPr>
          <a:xfrm>
            <a:off x="2527759" y="5020446"/>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89" name="TextBox 88"/>
          <p:cNvSpPr txBox="1"/>
          <p:nvPr/>
        </p:nvSpPr>
        <p:spPr>
          <a:xfrm>
            <a:off x="4109503" y="5033556"/>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12" name="Picture 21">
            <a:extLst>
              <a:ext uri="{FF2B5EF4-FFF2-40B4-BE49-F238E27FC236}">
                <a16:creationId xmlns:a16="http://schemas.microsoft.com/office/drawing/2014/main" id="{91168D90-0556-5371-C5D8-081D231BD2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157" y="5020446"/>
            <a:ext cx="845395" cy="897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1">
            <a:extLst>
              <a:ext uri="{FF2B5EF4-FFF2-40B4-BE49-F238E27FC236}">
                <a16:creationId xmlns:a16="http://schemas.microsoft.com/office/drawing/2014/main" id="{21495EBA-25D0-5A81-39F7-DD5E91C493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456" y="3996951"/>
            <a:ext cx="2608188" cy="20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57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223027" y="674279"/>
            <a:ext cx="3113567" cy="5734397"/>
          </a:xfrm>
          <a:prstGeom prst="rect">
            <a:avLst/>
          </a:prstGeom>
        </p:spPr>
      </p:pic>
      <p:pic>
        <p:nvPicPr>
          <p:cNvPr id="2079"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424" y="1010578"/>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629370" y="2005411"/>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60" name="TextBox 59"/>
          <p:cNvSpPr txBox="1"/>
          <p:nvPr/>
        </p:nvSpPr>
        <p:spPr>
          <a:xfrm>
            <a:off x="1688477" y="1010579"/>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1696963" y="2944044"/>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2391251" y="29355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1</a:t>
            </a:r>
            <a:endParaRPr lang="en-IN" sz="700" b="1" dirty="0">
              <a:latin typeface="Times New Roman" pitchFamily="18" charset="0"/>
              <a:cs typeface="Times New Roman" pitchFamily="18" charset="0"/>
            </a:endParaRPr>
          </a:p>
        </p:txBody>
      </p:sp>
      <p:sp>
        <p:nvSpPr>
          <p:cNvPr id="63" name="TextBox 62"/>
          <p:cNvSpPr txBox="1"/>
          <p:nvPr/>
        </p:nvSpPr>
        <p:spPr>
          <a:xfrm>
            <a:off x="3237945" y="293556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2</a:t>
            </a:r>
            <a:endParaRPr lang="en-IN" sz="700" b="1" dirty="0">
              <a:latin typeface="Times New Roman" pitchFamily="18" charset="0"/>
              <a:cs typeface="Times New Roman" pitchFamily="18" charset="0"/>
            </a:endParaRPr>
          </a:p>
        </p:txBody>
      </p:sp>
      <p:sp>
        <p:nvSpPr>
          <p:cNvPr id="64" name="TextBox 63"/>
          <p:cNvSpPr txBox="1"/>
          <p:nvPr/>
        </p:nvSpPr>
        <p:spPr>
          <a:xfrm>
            <a:off x="1544551" y="3917743"/>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65" name="TextBox 64"/>
          <p:cNvSpPr txBox="1"/>
          <p:nvPr/>
        </p:nvSpPr>
        <p:spPr>
          <a:xfrm>
            <a:off x="2416646" y="39346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3263340" y="39261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1569946" y="4925310"/>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2442041" y="49337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3288735" y="49252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7" y="4411789"/>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4" y="442025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40" y="441951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6" y="540024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3" y="540870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39" y="5407962"/>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230" y="4932198"/>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8069" y="3917743"/>
            <a:ext cx="2516922"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9" name="Flowchart: Process 38">
            <a:extLst>
              <a:ext uri="{FF2B5EF4-FFF2-40B4-BE49-F238E27FC236}">
                <a16:creationId xmlns:a16="http://schemas.microsoft.com/office/drawing/2014/main" id="{67B54128-3B63-4D7F-921A-5150FA07B590}"/>
              </a:ext>
            </a:extLst>
          </p:cNvPr>
          <p:cNvSpPr/>
          <p:nvPr/>
        </p:nvSpPr>
        <p:spPr>
          <a:xfrm rot="16200000">
            <a:off x="2659034" y="617651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2" name="Picture 1">
            <a:extLst>
              <a:ext uri="{FF2B5EF4-FFF2-40B4-BE49-F238E27FC236}">
                <a16:creationId xmlns:a16="http://schemas.microsoft.com/office/drawing/2014/main" id="{F87303AC-36BF-9592-0829-51F405F5169F}"/>
              </a:ext>
            </a:extLst>
          </p:cNvPr>
          <p:cNvPicPr>
            <a:picLocks noChangeAspect="1"/>
          </p:cNvPicPr>
          <p:nvPr/>
        </p:nvPicPr>
        <p:blipFill>
          <a:blip r:embed="rId9"/>
          <a:stretch>
            <a:fillRect/>
          </a:stretch>
        </p:blipFill>
        <p:spPr>
          <a:xfrm>
            <a:off x="1523115" y="2957604"/>
            <a:ext cx="809461" cy="877157"/>
          </a:xfrm>
          <a:prstGeom prst="rect">
            <a:avLst/>
          </a:prstGeom>
        </p:spPr>
      </p:pic>
    </p:spTree>
    <p:extLst>
      <p:ext uri="{BB962C8B-B14F-4D97-AF65-F5344CB8AC3E}">
        <p14:creationId xmlns:p14="http://schemas.microsoft.com/office/powerpoint/2010/main" val="115518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1" name="Flowchart: Process 30">
            <a:extLst>
              <a:ext uri="{FF2B5EF4-FFF2-40B4-BE49-F238E27FC236}">
                <a16:creationId xmlns:a16="http://schemas.microsoft.com/office/drawing/2014/main" id="{67B54128-3B63-4D7F-921A-5150FA07B590}"/>
              </a:ext>
            </a:extLst>
          </p:cNvPr>
          <p:cNvSpPr/>
          <p:nvPr/>
        </p:nvSpPr>
        <p:spPr>
          <a:xfrm rot="16200000">
            <a:off x="2656293" y="5945898"/>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3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732" y="1023407"/>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6" cstate="print">
            <a:extLst>
              <a:ext uri="{28A0092B-C50C-407E-A947-70E740481C1C}">
                <a14:useLocalDpi xmlns:a14="http://schemas.microsoft.com/office/drawing/2010/main" val="0"/>
              </a:ext>
            </a:extLst>
          </a:blip>
          <a:srcRect l="7819" t="2401" r="7633" b="2166"/>
          <a:stretch/>
        </p:blipFill>
        <p:spPr>
          <a:xfrm>
            <a:off x="1302925" y="709969"/>
            <a:ext cx="2947339" cy="5454996"/>
          </a:xfrm>
          <a:prstGeom prst="rect">
            <a:avLst/>
          </a:prstGeom>
        </p:spPr>
      </p:pic>
      <p:sp>
        <p:nvSpPr>
          <p:cNvPr id="34" name="TextBox 33"/>
          <p:cNvSpPr txBox="1"/>
          <p:nvPr/>
        </p:nvSpPr>
        <p:spPr>
          <a:xfrm>
            <a:off x="1857772" y="4495835"/>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1573171" y="2328351"/>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1573165" y="298030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1595340" y="1332325"/>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14170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148" y="1296870"/>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2687341" y="983432"/>
            <a:ext cx="2947339" cy="5454996"/>
          </a:xfrm>
          <a:prstGeom prst="rect">
            <a:avLst/>
          </a:prstGeom>
        </p:spPr>
      </p:pic>
      <p:sp>
        <p:nvSpPr>
          <p:cNvPr id="34" name="TextBox 33"/>
          <p:cNvSpPr txBox="1"/>
          <p:nvPr/>
        </p:nvSpPr>
        <p:spPr>
          <a:xfrm>
            <a:off x="3242188" y="4769298"/>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2957587" y="260181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2957581" y="3253767"/>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2979756" y="1605788"/>
            <a:ext cx="731290"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HOSUR</a:t>
            </a:r>
            <a:endParaRPr lang="en-IN" sz="1200" b="1" dirty="0">
              <a:solidFill>
                <a:schemeClr val="bg1"/>
              </a:solidFill>
              <a:latin typeface="Times New Roman" pitchFamily="18" charset="0"/>
              <a:cs typeface="Times New Roman" pitchFamily="18" charset="0"/>
            </a:endParaRPr>
          </a:p>
        </p:txBody>
      </p:sp>
      <p:pic>
        <p:nvPicPr>
          <p:cNvPr id="2" name="Picture 21">
            <a:extLst>
              <a:ext uri="{FF2B5EF4-FFF2-40B4-BE49-F238E27FC236}">
                <a16:creationId xmlns:a16="http://schemas.microsoft.com/office/drawing/2014/main" id="{65B63B11-0E7D-7480-513E-08849506DE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6579" y="4801017"/>
            <a:ext cx="1728314" cy="1221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6598D72-4044-76E8-E5CF-67715E9F11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6309339" y="982008"/>
            <a:ext cx="2947339" cy="5454996"/>
          </a:xfrm>
          <a:prstGeom prst="rect">
            <a:avLst/>
          </a:prstGeom>
        </p:spPr>
      </p:pic>
      <p:pic>
        <p:nvPicPr>
          <p:cNvPr id="5" name="Picture 4">
            <a:extLst>
              <a:ext uri="{FF2B5EF4-FFF2-40B4-BE49-F238E27FC236}">
                <a16:creationId xmlns:a16="http://schemas.microsoft.com/office/drawing/2014/main" id="{11C7063D-9E30-467A-27EA-5ABD3CCA4D13}"/>
              </a:ext>
            </a:extLst>
          </p:cNvPr>
          <p:cNvPicPr>
            <a:picLocks noChangeAspect="1"/>
          </p:cNvPicPr>
          <p:nvPr/>
        </p:nvPicPr>
        <p:blipFill>
          <a:blip r:embed="rId6"/>
          <a:stretch>
            <a:fillRect/>
          </a:stretch>
        </p:blipFill>
        <p:spPr>
          <a:xfrm>
            <a:off x="6469163" y="1316049"/>
            <a:ext cx="2632106" cy="4706279"/>
          </a:xfrm>
          <a:prstGeom prst="rect">
            <a:avLst/>
          </a:prstGeom>
        </p:spPr>
      </p:pic>
      <p:sp>
        <p:nvSpPr>
          <p:cNvPr id="7" name="TextBox 6">
            <a:extLst>
              <a:ext uri="{FF2B5EF4-FFF2-40B4-BE49-F238E27FC236}">
                <a16:creationId xmlns:a16="http://schemas.microsoft.com/office/drawing/2014/main" id="{BB2E646A-E4E1-480E-4A8A-0DC14ACEFAB3}"/>
              </a:ext>
            </a:extLst>
          </p:cNvPr>
          <p:cNvSpPr txBox="1"/>
          <p:nvPr/>
        </p:nvSpPr>
        <p:spPr>
          <a:xfrm>
            <a:off x="6635932" y="2529157"/>
            <a:ext cx="663964" cy="276999"/>
          </a:xfrm>
          <a:prstGeom prst="rect">
            <a:avLst/>
          </a:prstGeom>
          <a:noFill/>
        </p:spPr>
        <p:txBody>
          <a:bodyPr wrap="none" rtlCol="0">
            <a:spAutoFit/>
          </a:bodyPr>
          <a:lstStyle/>
          <a:p>
            <a:r>
              <a:rPr lang="en-US" sz="1200" b="1" dirty="0">
                <a:solidFill>
                  <a:srgbClr val="00B050"/>
                </a:solidFill>
                <a:latin typeface="Times New Roman" pitchFamily="18" charset="0"/>
                <a:cs typeface="Times New Roman" pitchFamily="18" charset="0"/>
              </a:rPr>
              <a:t>DEMO</a:t>
            </a:r>
            <a:endParaRPr lang="en-IN" sz="12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4132934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a:solidFill>
                  <a:srgbClr val="FF0000"/>
                </a:solidFill>
                <a:latin typeface="Times New Roman" pitchFamily="18" charset="0"/>
                <a:ea typeface="+mj-ea"/>
                <a:cs typeface="Times New Roman" pitchFamily="18" charset="0"/>
              </a:rPr>
              <a:t>Flowmeter 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5624" y="1818277"/>
            <a:ext cx="5587999" cy="3530092"/>
          </a:xfrm>
          <a:prstGeom prst="rect">
            <a:avLst/>
          </a:prstGeom>
        </p:spPr>
      </p:pic>
      <p:pic>
        <p:nvPicPr>
          <p:cNvPr id="3" name="Picture 2">
            <a:extLst>
              <a:ext uri="{FF2B5EF4-FFF2-40B4-BE49-F238E27FC236}">
                <a16:creationId xmlns:a16="http://schemas.microsoft.com/office/drawing/2014/main" id="{CE10A595-F51F-0CF1-C2B8-C18A6FCA6A94}"/>
              </a:ext>
            </a:extLst>
          </p:cNvPr>
          <p:cNvPicPr>
            <a:picLocks noChangeAspect="1"/>
          </p:cNvPicPr>
          <p:nvPr/>
        </p:nvPicPr>
        <p:blipFill>
          <a:blip r:embed="rId4"/>
          <a:srcRect t="666" b="1"/>
          <a:stretch/>
        </p:blipFill>
        <p:spPr>
          <a:xfrm>
            <a:off x="6339751" y="1880075"/>
            <a:ext cx="5461997" cy="3025210"/>
          </a:xfrm>
          <a:prstGeom prst="rect">
            <a:avLst/>
          </a:prstGeom>
        </p:spPr>
      </p:pic>
      <p:pic>
        <p:nvPicPr>
          <p:cNvPr id="4" name="Picture 3">
            <a:extLst>
              <a:ext uri="{FF2B5EF4-FFF2-40B4-BE49-F238E27FC236}">
                <a16:creationId xmlns:a16="http://schemas.microsoft.com/office/drawing/2014/main" id="{BE50663F-8CF3-DB0A-8FDE-A3EC4DAF99D3}"/>
              </a:ext>
            </a:extLst>
          </p:cNvPr>
          <p:cNvPicPr>
            <a:picLocks noChangeAspect="1"/>
          </p:cNvPicPr>
          <p:nvPr/>
        </p:nvPicPr>
        <p:blipFill>
          <a:blip r:embed="rId5"/>
          <a:stretch>
            <a:fillRect/>
          </a:stretch>
        </p:blipFill>
        <p:spPr>
          <a:xfrm>
            <a:off x="390252" y="1880075"/>
            <a:ext cx="5463617" cy="3025210"/>
          </a:xfrm>
          <a:prstGeom prst="rect">
            <a:avLst/>
          </a:prstGeom>
        </p:spPr>
      </p:pic>
      <p:pic>
        <p:nvPicPr>
          <p:cNvPr id="5" name="Picture 4">
            <a:extLst>
              <a:ext uri="{FF2B5EF4-FFF2-40B4-BE49-F238E27FC236}">
                <a16:creationId xmlns:a16="http://schemas.microsoft.com/office/drawing/2014/main" id="{8736DD77-8ED0-64E7-0DE0-BAD5692FD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756" y="1818277"/>
            <a:ext cx="5587999" cy="3530092"/>
          </a:xfrm>
          <a:prstGeom prst="rect">
            <a:avLst/>
          </a:prstGeom>
        </p:spPr>
      </p:pic>
    </p:spTree>
    <p:extLst>
      <p:ext uri="{BB962C8B-B14F-4D97-AF65-F5344CB8AC3E}">
        <p14:creationId xmlns:p14="http://schemas.microsoft.com/office/powerpoint/2010/main" val="350235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Chlorinator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
        <p:nvSpPr>
          <p:cNvPr id="25" name="Rectangle 24"/>
          <p:cNvSpPr/>
          <p:nvPr/>
        </p:nvSpPr>
        <p:spPr>
          <a:xfrm>
            <a:off x="4915681" y="5323674"/>
            <a:ext cx="2812515" cy="1255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dirty="0">
              <a:solidFill>
                <a:schemeClr val="tx1"/>
              </a:solidFill>
              <a:latin typeface="Times New Roman" pitchFamily="18" charset="0"/>
              <a:cs typeface="Times New Roman" pitchFamily="18" charset="0"/>
            </a:endParaRPr>
          </a:p>
          <a:p>
            <a:pPr>
              <a:lnSpc>
                <a:spcPct val="150000"/>
              </a:lnSpc>
            </a:pPr>
            <a:r>
              <a:rPr lang="en-US" sz="1200" b="1" u="sng" dirty="0">
                <a:solidFill>
                  <a:srgbClr val="00B050"/>
                </a:solidFill>
                <a:latin typeface="Times New Roman" pitchFamily="18" charset="0"/>
                <a:cs typeface="Times New Roman" pitchFamily="18" charset="0"/>
              </a:rPr>
              <a:t>APP &amp; WEB VIEW FEATURES:</a:t>
            </a:r>
          </a:p>
          <a:p>
            <a:pPr>
              <a:lnSpc>
                <a:spcPct val="150000"/>
              </a:lnSpc>
            </a:pPr>
            <a:r>
              <a:rPr lang="en-US" sz="1200" b="1" dirty="0">
                <a:solidFill>
                  <a:schemeClr val="tx1"/>
                </a:solidFill>
                <a:latin typeface="Times New Roman" pitchFamily="18" charset="0"/>
                <a:cs typeface="Times New Roman" pitchFamily="18" charset="0"/>
              </a:rPr>
              <a:t>1.TANK HIGH LEVEL</a:t>
            </a:r>
          </a:p>
          <a:p>
            <a:pPr>
              <a:lnSpc>
                <a:spcPct val="150000"/>
              </a:lnSpc>
            </a:pPr>
            <a:r>
              <a:rPr lang="en-US" sz="1200" b="1" dirty="0">
                <a:solidFill>
                  <a:schemeClr val="tx1"/>
                </a:solidFill>
                <a:latin typeface="Times New Roman" pitchFamily="18" charset="0"/>
                <a:cs typeface="Times New Roman" pitchFamily="18" charset="0"/>
              </a:rPr>
              <a:t>2.TANK LOW LEVEL</a:t>
            </a:r>
          </a:p>
          <a:p>
            <a:pPr>
              <a:lnSpc>
                <a:spcPct val="150000"/>
              </a:lnSpc>
            </a:pPr>
            <a:r>
              <a:rPr lang="en-US" sz="1200" b="1" dirty="0">
                <a:solidFill>
                  <a:schemeClr val="tx1"/>
                </a:solidFill>
                <a:latin typeface="Times New Roman" pitchFamily="18" charset="0"/>
                <a:cs typeface="Times New Roman" pitchFamily="18" charset="0"/>
              </a:rPr>
              <a:t>3.TANK CAPACITY</a:t>
            </a:r>
          </a:p>
          <a:p>
            <a:pPr>
              <a:lnSpc>
                <a:spcPct val="150000"/>
              </a:lnSpc>
            </a:pPr>
            <a:r>
              <a:rPr lang="en-US" sz="1200" b="1" dirty="0">
                <a:solidFill>
                  <a:schemeClr val="tx1"/>
                </a:solidFill>
                <a:latin typeface="Times New Roman" pitchFamily="18" charset="0"/>
                <a:cs typeface="Times New Roman" pitchFamily="18" charset="0"/>
              </a:rPr>
              <a:t>4.TANK PERCENTAGE</a:t>
            </a:r>
          </a:p>
          <a:p>
            <a:pPr>
              <a:lnSpc>
                <a:spcPct val="150000"/>
              </a:lnSpc>
            </a:pPr>
            <a:endParaRPr lang="en-US" sz="1200" b="1" dirty="0">
              <a:solidFill>
                <a:schemeClr val="tx1"/>
              </a:solidFill>
              <a:latin typeface="Times New Roman" pitchFamily="18" charset="0"/>
              <a:cs typeface="Times New Roman" pitchFamily="18" charset="0"/>
            </a:endParaRPr>
          </a:p>
        </p:txBody>
      </p:sp>
      <p:sp>
        <p:nvSpPr>
          <p:cNvPr id="27" name="Flowchart: Process 26">
            <a:extLst>
              <a:ext uri="{FF2B5EF4-FFF2-40B4-BE49-F238E27FC236}">
                <a16:creationId xmlns:a16="http://schemas.microsoft.com/office/drawing/2014/main" id="{67B54128-3B63-4D7F-921A-5150FA07B590}"/>
              </a:ext>
            </a:extLst>
          </p:cNvPr>
          <p:cNvSpPr/>
          <p:nvPr/>
        </p:nvSpPr>
        <p:spPr>
          <a:xfrm rot="16200000">
            <a:off x="2755639" y="5992797"/>
            <a:ext cx="230632" cy="9423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APP VIEW</a:t>
            </a:r>
          </a:p>
        </p:txBody>
      </p:sp>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397286" y="820036"/>
            <a:ext cx="2947339" cy="5454996"/>
          </a:xfrm>
          <a:prstGeom prst="rect">
            <a:avLst/>
          </a:prstGeom>
        </p:spPr>
      </p:pic>
      <p:pic>
        <p:nvPicPr>
          <p:cNvPr id="1037" name="Picture 13"/>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1553654" y="1143000"/>
            <a:ext cx="2620413" cy="474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76340" y="1657404"/>
            <a:ext cx="5587999" cy="3530092"/>
          </a:xfrm>
          <a:prstGeom prst="rect">
            <a:avLst/>
          </a:prstGeom>
        </p:spPr>
      </p:pic>
      <p:sp>
        <p:nvSpPr>
          <p:cNvPr id="47" name="Flowchart: Process 46">
            <a:extLst>
              <a:ext uri="{FF2B5EF4-FFF2-40B4-BE49-F238E27FC236}">
                <a16:creationId xmlns:a16="http://schemas.microsoft.com/office/drawing/2014/main" id="{67B54128-3B63-4D7F-921A-5150FA07B590}"/>
              </a:ext>
            </a:extLst>
          </p:cNvPr>
          <p:cNvSpPr/>
          <p:nvPr/>
        </p:nvSpPr>
        <p:spPr>
          <a:xfrm rot="16200000">
            <a:off x="8052697" y="502142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4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069" y="1726224"/>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Box 48"/>
          <p:cNvSpPr txBox="1"/>
          <p:nvPr/>
        </p:nvSpPr>
        <p:spPr>
          <a:xfrm>
            <a:off x="7379509" y="2142097"/>
            <a:ext cx="497252" cy="169277"/>
          </a:xfrm>
          <a:prstGeom prst="rect">
            <a:avLst/>
          </a:prstGeom>
          <a:noFill/>
        </p:spPr>
        <p:txBody>
          <a:bodyPr wrap="none" rtlCol="0">
            <a:spAutoFit/>
          </a:bodyPr>
          <a:lstStyle/>
          <a:p>
            <a:r>
              <a:rPr lang="en-US" sz="500" b="1" dirty="0">
                <a:latin typeface="Times New Roman" pitchFamily="18" charset="0"/>
                <a:cs typeface="Times New Roman" pitchFamily="18" charset="0"/>
              </a:rPr>
              <a:t>DWG VCT</a:t>
            </a:r>
            <a:endParaRPr lang="en-IN" sz="500" b="1" dirty="0">
              <a:latin typeface="Times New Roman" pitchFamily="18" charset="0"/>
              <a:cs typeface="Times New Roman" pitchFamily="18" charset="0"/>
            </a:endParaRPr>
          </a:p>
        </p:txBody>
      </p:sp>
      <p:sp>
        <p:nvSpPr>
          <p:cNvPr id="50" name="TextBox 49"/>
          <p:cNvSpPr txBox="1"/>
          <p:nvPr/>
        </p:nvSpPr>
        <p:spPr>
          <a:xfrm>
            <a:off x="5677483" y="2140885"/>
            <a:ext cx="595035" cy="169277"/>
          </a:xfrm>
          <a:prstGeom prst="rect">
            <a:avLst/>
          </a:prstGeom>
          <a:noFill/>
        </p:spPr>
        <p:txBody>
          <a:bodyPr wrap="none" rtlCol="0">
            <a:spAutoFit/>
          </a:bodyPr>
          <a:lstStyle/>
          <a:p>
            <a:r>
              <a:rPr lang="en-US" sz="500" b="1" dirty="0">
                <a:latin typeface="Times New Roman" pitchFamily="18" charset="0"/>
                <a:cs typeface="Times New Roman" pitchFamily="18" charset="0"/>
              </a:rPr>
              <a:t>PANCHAYAT</a:t>
            </a:r>
            <a:endParaRPr lang="en-IN" sz="500" b="1" dirty="0">
              <a:latin typeface="Times New Roman" pitchFamily="18" charset="0"/>
              <a:cs typeface="Times New Roman" pitchFamily="18" charset="0"/>
            </a:endParaRPr>
          </a:p>
        </p:txBody>
      </p:sp>
      <p:sp>
        <p:nvSpPr>
          <p:cNvPr id="3" name="TextBox 2"/>
          <p:cNvSpPr txBox="1"/>
          <p:nvPr/>
        </p:nvSpPr>
        <p:spPr>
          <a:xfrm>
            <a:off x="1713891" y="2399595"/>
            <a:ext cx="816249" cy="215444"/>
          </a:xfrm>
          <a:prstGeom prst="rect">
            <a:avLst/>
          </a:prstGeom>
          <a:noFill/>
        </p:spPr>
        <p:txBody>
          <a:bodyPr wrap="none" rtlCol="0">
            <a:spAutoFit/>
          </a:bodyPr>
          <a:lstStyle/>
          <a:p>
            <a:r>
              <a:rPr lang="en-US" sz="800" dirty="0">
                <a:latin typeface="Times New Roman" pitchFamily="18" charset="0"/>
                <a:cs typeface="Times New Roman" pitchFamily="18" charset="0"/>
              </a:rPr>
              <a:t>PANCHAYAT</a:t>
            </a:r>
            <a:endParaRPr lang="en-IN" sz="800" dirty="0">
              <a:latin typeface="Times New Roman" pitchFamily="18" charset="0"/>
              <a:cs typeface="Times New Roman" pitchFamily="18" charset="0"/>
            </a:endParaRPr>
          </a:p>
        </p:txBody>
      </p:sp>
    </p:spTree>
    <p:extLst>
      <p:ext uri="{BB962C8B-B14F-4D97-AF65-F5344CB8AC3E}">
        <p14:creationId xmlns:p14="http://schemas.microsoft.com/office/powerpoint/2010/main" val="116949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78094"/>
            <a:ext cx="10363200" cy="608124"/>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TERMS AND CONDITIONS</a:t>
            </a:r>
          </a:p>
        </p:txBody>
      </p:sp>
      <p:sp>
        <p:nvSpPr>
          <p:cNvPr id="2" name="Rectangle 1"/>
          <p:cNvSpPr/>
          <p:nvPr/>
        </p:nvSpPr>
        <p:spPr>
          <a:xfrm>
            <a:off x="643529" y="461247"/>
            <a:ext cx="10941746" cy="6309420"/>
          </a:xfrm>
          <a:prstGeom prst="rect">
            <a:avLst/>
          </a:prstGeom>
        </p:spPr>
        <p:txBody>
          <a:bodyPr wrap="square">
            <a:spAutoFit/>
          </a:bodyPr>
          <a:lstStyle/>
          <a:p>
            <a:pPr>
              <a:lnSpc>
                <a:spcPct val="200000"/>
              </a:lnSpc>
            </a:pPr>
            <a:r>
              <a:rPr lang="en-US" sz="2200" b="1" dirty="0">
                <a:latin typeface="Times New Roman" pitchFamily="18" charset="0"/>
                <a:cs typeface="Times New Roman" pitchFamily="18" charset="0"/>
              </a:rPr>
              <a:t>1. Payment: 75% in advance with PO and 25 % after installation.</a:t>
            </a:r>
          </a:p>
          <a:p>
            <a:pPr>
              <a:lnSpc>
                <a:spcPct val="200000"/>
              </a:lnSpc>
            </a:pPr>
            <a:r>
              <a:rPr lang="en-US" sz="2200" dirty="0">
                <a:latin typeface="Times New Roman" pitchFamily="18" charset="0"/>
                <a:cs typeface="Times New Roman" pitchFamily="18" charset="0"/>
              </a:rPr>
              <a:t>2. Delivery: 3 -4 Weeks against PO.</a:t>
            </a:r>
          </a:p>
          <a:p>
            <a:pPr>
              <a:lnSpc>
                <a:spcPct val="200000"/>
              </a:lnSpc>
            </a:pPr>
            <a:r>
              <a:rPr lang="en-US" sz="2200" b="1" dirty="0">
                <a:latin typeface="Times New Roman" pitchFamily="18" charset="0"/>
                <a:cs typeface="Times New Roman" pitchFamily="18" charset="0"/>
              </a:rPr>
              <a:t>3. Warranty: One year from the date of Commissioning.</a:t>
            </a:r>
          </a:p>
          <a:p>
            <a:pPr>
              <a:lnSpc>
                <a:spcPct val="200000"/>
              </a:lnSpc>
            </a:pPr>
            <a:r>
              <a:rPr lang="en-US" sz="2200" dirty="0">
                <a:latin typeface="Times New Roman" pitchFamily="18" charset="0"/>
                <a:cs typeface="Times New Roman" pitchFamily="18" charset="0"/>
              </a:rPr>
              <a:t>4. No warranty for products failure under High Voltage &amp; Natural disasters.</a:t>
            </a:r>
          </a:p>
          <a:p>
            <a:pPr>
              <a:lnSpc>
                <a:spcPct val="200000"/>
              </a:lnSpc>
            </a:pPr>
            <a:r>
              <a:rPr lang="en-US" sz="2200" dirty="0">
                <a:latin typeface="Times New Roman" pitchFamily="18" charset="0"/>
                <a:cs typeface="Times New Roman" pitchFamily="18" charset="0"/>
              </a:rPr>
              <a:t>5. Civil Works, Plumbing and Electrical Supply would be on Customer Scope.</a:t>
            </a:r>
          </a:p>
          <a:p>
            <a:pPr>
              <a:lnSpc>
                <a:spcPct val="200000"/>
              </a:lnSpc>
            </a:pPr>
            <a:r>
              <a:rPr lang="en-US" sz="2200" dirty="0">
                <a:latin typeface="Times New Roman" pitchFamily="18" charset="0"/>
                <a:cs typeface="Times New Roman" pitchFamily="18" charset="0"/>
              </a:rPr>
              <a:t>6.</a:t>
            </a:r>
            <a:r>
              <a:rPr lang="en-US" sz="2400" dirty="0">
                <a:latin typeface="Times New Roman" pitchFamily="18" charset="0"/>
                <a:cs typeface="Times New Roman" pitchFamily="18" charset="0"/>
              </a:rPr>
              <a:t> Additionally Wireless Repeater may be required if the signal is not sufficient, The cost of the Repeater will be Rs.11,000 Plus GST 18%.</a:t>
            </a:r>
            <a:endParaRPr lang="en-US" sz="2200" dirty="0">
              <a:latin typeface="Times New Roman" pitchFamily="18" charset="0"/>
              <a:cs typeface="Times New Roman" pitchFamily="18" charset="0"/>
            </a:endParaRPr>
          </a:p>
          <a:p>
            <a:pPr>
              <a:lnSpc>
                <a:spcPct val="200000"/>
              </a:lnSpc>
            </a:pPr>
            <a:r>
              <a:rPr lang="en-US" sz="2200" b="1" dirty="0">
                <a:latin typeface="Times New Roman" pitchFamily="18" charset="0"/>
                <a:cs typeface="Times New Roman" pitchFamily="18" charset="0"/>
              </a:rPr>
              <a:t>7. AMC would be 15% of the total value post-warranty</a:t>
            </a:r>
            <a:r>
              <a:rPr lang="en-US" sz="2200" dirty="0">
                <a:latin typeface="Times New Roman" pitchFamily="18" charset="0"/>
                <a:cs typeface="Times New Roman" pitchFamily="18" charset="0"/>
              </a:rPr>
              <a:t>.</a:t>
            </a:r>
          </a:p>
          <a:p>
            <a:pPr>
              <a:lnSpc>
                <a:spcPct val="200000"/>
              </a:lnSpc>
            </a:pPr>
            <a:r>
              <a:rPr lang="en-US" sz="2200" dirty="0">
                <a:latin typeface="Times New Roman" pitchFamily="18" charset="0"/>
                <a:cs typeface="Times New Roman" pitchFamily="18" charset="0"/>
              </a:rPr>
              <a:t>8. Quotation Valid for 30 days.</a:t>
            </a:r>
            <a:endParaRPr lang="en-IN" sz="2200" dirty="0">
              <a:latin typeface="Times New Roman" pitchFamily="18" charset="0"/>
              <a:cs typeface="Times New Roman" pitchFamily="18" charset="0"/>
            </a:endParaRP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86601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23809494"/>
              </p:ext>
            </p:extLst>
          </p:nvPr>
        </p:nvGraphicFramePr>
        <p:xfrm>
          <a:off x="209359" y="588285"/>
          <a:ext cx="11712131" cy="5930311"/>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286627">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KPR</a:t>
                      </a:r>
                      <a:r>
                        <a:rPr lang="en-US" sz="2200" baseline="0" dirty="0">
                          <a:latin typeface="Times New Roman" pitchFamily="18" charset="0"/>
                          <a:cs typeface="Times New Roman" pitchFamily="18" charset="0"/>
                        </a:rPr>
                        <a:t> Mills, SIPCOT-</a:t>
                      </a:r>
                      <a:r>
                        <a:rPr lang="en-US" sz="2200" baseline="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Engineering College,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Sakthi</a:t>
                      </a:r>
                      <a:r>
                        <a:rPr lang="en-IN" sz="2200" dirty="0">
                          <a:latin typeface="Times New Roman" pitchFamily="18" charset="0"/>
                          <a:cs typeface="Times New Roman" pitchFamily="18" charset="0"/>
                        </a:rPr>
                        <a:t> Group, </a:t>
                      </a:r>
                      <a:r>
                        <a:rPr lang="en-IN" sz="2200" dirty="0" err="1">
                          <a:latin typeface="Times New Roman" pitchFamily="18" charset="0"/>
                          <a:cs typeface="Times New Roman" pitchFamily="18" charset="0"/>
                        </a:rPr>
                        <a:t>Pallagounden</a:t>
                      </a:r>
                      <a:r>
                        <a:rPr lang="en-IN" sz="2200" baseline="0" dirty="0" err="1">
                          <a:latin typeface="Times New Roman" pitchFamily="18" charset="0"/>
                          <a:cs typeface="Times New Roman" pitchFamily="18" charset="0"/>
                        </a:rPr>
                        <a:t>Palayam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SA Textiles,</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Vijayamangalam</a:t>
                      </a:r>
                      <a:endParaRPr lang="en-IN" sz="22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Cheran</a:t>
                      </a:r>
                      <a:r>
                        <a:rPr lang="en-IN" sz="2200" dirty="0">
                          <a:latin typeface="Times New Roman" pitchFamily="18" charset="0"/>
                          <a:cs typeface="Times New Roman" pitchFamily="18" charset="0"/>
                        </a:rPr>
                        <a:t> Plastics,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Velmurugan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Scans,Erode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MSK Hero Group,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Prithvi Inner Wears,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a:latin typeface="Times New Roman" pitchFamily="18" charset="0"/>
                          <a:cs typeface="Times New Roman" pitchFamily="18" charset="0"/>
                        </a:rPr>
                        <a:t>Palani </a:t>
                      </a:r>
                      <a:r>
                        <a:rPr lang="en-IN" sz="2200" dirty="0" err="1">
                          <a:latin typeface="Times New Roman" pitchFamily="18" charset="0"/>
                          <a:cs typeface="Times New Roman" pitchFamily="18" charset="0"/>
                        </a:rPr>
                        <a:t>Murugan</a:t>
                      </a:r>
                      <a:r>
                        <a:rPr lang="en-IN" sz="2200" dirty="0">
                          <a:latin typeface="Times New Roman" pitchFamily="18" charset="0"/>
                          <a:cs typeface="Times New Roman" pitchFamily="18" charset="0"/>
                        </a:rPr>
                        <a:t> Temple, </a:t>
                      </a:r>
                      <a:r>
                        <a:rPr lang="en-IN" sz="2200" dirty="0" err="1">
                          <a:latin typeface="Times New Roman" pitchFamily="18" charset="0"/>
                          <a:cs typeface="Times New Roman" pitchFamily="18" charset="0"/>
                        </a:rPr>
                        <a:t>Palani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Kasipalayam</a:t>
                      </a:r>
                      <a:r>
                        <a:rPr lang="en-IN" sz="2200" dirty="0">
                          <a:latin typeface="Times New Roman" pitchFamily="18" charset="0"/>
                          <a:cs typeface="Times New Roman" pitchFamily="18" charset="0"/>
                        </a:rPr>
                        <a:t> CETP,</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a:latin typeface="Times New Roman" pitchFamily="18" charset="0"/>
                          <a:cs typeface="Times New Roman" pitchFamily="18" charset="0"/>
                        </a:rPr>
                        <a:t>CMV Global Clothing,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Excel Group Institutions, </a:t>
                      </a:r>
                      <a:r>
                        <a:rPr kumimoji="0" lang="en-US" sz="2200" b="0" i="0" kern="1200" dirty="0" err="1">
                          <a:solidFill>
                            <a:schemeClr val="dk1"/>
                          </a:solidFill>
                          <a:latin typeface="Times New Roman" pitchFamily="18" charset="0"/>
                          <a:ea typeface="+mn-ea"/>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a:latin typeface="Times New Roman" pitchFamily="18" charset="0"/>
                          <a:cs typeface="Times New Roman" pitchFamily="18" charset="0"/>
                        </a:rPr>
                        <a:t>Erode Railway Junction,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Nithin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Nivas</a:t>
                      </a:r>
                      <a:r>
                        <a:rPr lang="en-IN" sz="2200" dirty="0">
                          <a:latin typeface="Times New Roman" pitchFamily="18" charset="0"/>
                          <a:cs typeface="Times New Roman" pitchFamily="18" charset="0"/>
                        </a:rPr>
                        <a:t> Apartments, Erode</a:t>
                      </a: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a:latin typeface="Times New Roman" pitchFamily="18" charset="0"/>
                          <a:cs typeface="Times New Roman" pitchFamily="18" charset="0"/>
                        </a:rPr>
                        <a:t>Tenx Health Care, Coimbatore</a:t>
                      </a:r>
                    </a:p>
                  </a:txBody>
                  <a:tcPr marL="74295" marR="74295" anchor="ctr"/>
                </a:tc>
                <a:tc>
                  <a:txBody>
                    <a:bodyPr/>
                    <a:lstStyle/>
                    <a:p>
                      <a:pPr algn="l"/>
                      <a:r>
                        <a:rPr lang="en-US" sz="2200" dirty="0" err="1">
                          <a:latin typeface="Times New Roman" pitchFamily="18" charset="0"/>
                          <a:cs typeface="Times New Roman" pitchFamily="18" charset="0"/>
                        </a:rPr>
                        <a:t>Sukra</a:t>
                      </a:r>
                      <a:r>
                        <a:rPr lang="en-US" sz="2200" dirty="0">
                          <a:latin typeface="Times New Roman" pitchFamily="18" charset="0"/>
                          <a:cs typeface="Times New Roman" pitchFamily="18" charset="0"/>
                        </a:rPr>
                        <a:t> Colors, </a:t>
                      </a:r>
                      <a:r>
                        <a:rPr lang="en-US"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a:latin typeface="Times New Roman" pitchFamily="18" charset="0"/>
                          <a:cs typeface="Times New Roman" pitchFamily="18" charset="0"/>
                        </a:rPr>
                        <a:t>Roots Multi Clean Ltd,</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Pollachi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MohanRaj</a:t>
                      </a:r>
                      <a:r>
                        <a:rPr lang="en-IN" sz="2200" baseline="0" dirty="0">
                          <a:latin typeface="Times New Roman" pitchFamily="18" charset="0"/>
                          <a:cs typeface="Times New Roman" pitchFamily="18" charset="0"/>
                        </a:rPr>
                        <a:t> Poultry Farms, </a:t>
                      </a:r>
                      <a:r>
                        <a:rPr lang="en-IN" sz="2200" baseline="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Sona</a:t>
                      </a:r>
                      <a:r>
                        <a:rPr lang="en-IN" sz="2200" dirty="0">
                          <a:latin typeface="Times New Roman" pitchFamily="18" charset="0"/>
                          <a:cs typeface="Times New Roman" pitchFamily="18" charset="0"/>
                        </a:rPr>
                        <a:t> College</a:t>
                      </a:r>
                      <a:r>
                        <a:rPr lang="en-IN" sz="2200" baseline="0" dirty="0">
                          <a:latin typeface="Times New Roman" pitchFamily="18" charset="0"/>
                          <a:cs typeface="Times New Roman" pitchFamily="18" charset="0"/>
                        </a:rPr>
                        <a:t> of Technology, Salem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ASMA Engineering Services, Goa</a:t>
                      </a:r>
                    </a:p>
                  </a:txBody>
                  <a:tcPr marL="74295" marR="74295" anchor="ctr"/>
                </a:tc>
                <a:extLst>
                  <a:ext uri="{0D108BD9-81ED-4DB2-BD59-A6C34878D82A}">
                    <a16:rowId xmlns:a16="http://schemas.microsoft.com/office/drawing/2014/main" val="10009"/>
                  </a:ext>
                </a:extLst>
              </a:tr>
            </a:tbl>
          </a:graphicData>
        </a:graphic>
      </p:graphicFrame>
      <p:pic>
        <p:nvPicPr>
          <p:cNvPr id="56" name="Picture 55">
            <a:extLst>
              <a:ext uri="{FF2B5EF4-FFF2-40B4-BE49-F238E27FC236}">
                <a16:creationId xmlns:a16="http://schemas.microsoft.com/office/drawing/2014/main" id="{20059E08-2141-4398-8DFF-E90C3CA55F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605" r="11644"/>
          <a:stretch/>
        </p:blipFill>
        <p:spPr>
          <a:xfrm>
            <a:off x="5027362" y="3112230"/>
            <a:ext cx="577247" cy="549824"/>
          </a:xfrm>
          <a:prstGeom prst="rect">
            <a:avLst/>
          </a:prstGeom>
        </p:spPr>
      </p:pic>
      <p:pic>
        <p:nvPicPr>
          <p:cNvPr id="57" name="Picture 56">
            <a:extLst>
              <a:ext uri="{FF2B5EF4-FFF2-40B4-BE49-F238E27FC236}">
                <a16:creationId xmlns:a16="http://schemas.microsoft.com/office/drawing/2014/main" id="{ED615390-C754-4A01-81B5-6FFD62A68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9865" y="3714750"/>
            <a:ext cx="1042523" cy="475705"/>
          </a:xfrm>
          <a:prstGeom prst="rect">
            <a:avLst/>
          </a:prstGeom>
        </p:spPr>
      </p:pic>
      <p:pic>
        <p:nvPicPr>
          <p:cNvPr id="58" name="Picture 57">
            <a:extLst>
              <a:ext uri="{FF2B5EF4-FFF2-40B4-BE49-F238E27FC236}">
                <a16:creationId xmlns:a16="http://schemas.microsoft.com/office/drawing/2014/main" id="{E5715665-0B3D-4068-8C2A-ADABC235E016}"/>
              </a:ext>
            </a:extLst>
          </p:cNvPr>
          <p:cNvPicPr>
            <a:picLocks noChangeAspect="1"/>
          </p:cNvPicPr>
          <p:nvPr/>
        </p:nvPicPr>
        <p:blipFill rotWithShape="1">
          <a:blip r:embed="rId4">
            <a:extLst>
              <a:ext uri="{28A0092B-C50C-407E-A947-70E740481C1C}">
                <a14:useLocalDpi xmlns:a14="http://schemas.microsoft.com/office/drawing/2010/main" val="0"/>
              </a:ext>
            </a:extLst>
          </a:blip>
          <a:srcRect l="12767" r="11297" b="28344"/>
          <a:stretch/>
        </p:blipFill>
        <p:spPr>
          <a:xfrm>
            <a:off x="4546362" y="4240530"/>
            <a:ext cx="1051029" cy="563901"/>
          </a:xfrm>
          <a:prstGeom prst="rect">
            <a:avLst/>
          </a:prstGeom>
        </p:spPr>
      </p:pic>
      <p:pic>
        <p:nvPicPr>
          <p:cNvPr id="59" name="Picture 58">
            <a:extLst>
              <a:ext uri="{FF2B5EF4-FFF2-40B4-BE49-F238E27FC236}">
                <a16:creationId xmlns:a16="http://schemas.microsoft.com/office/drawing/2014/main" id="{A5572221-2577-4B92-8E48-5661E804E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3454" y="4879649"/>
            <a:ext cx="1000559" cy="410197"/>
          </a:xfrm>
          <a:prstGeom prst="rect">
            <a:avLst/>
          </a:prstGeom>
        </p:spPr>
      </p:pic>
      <p:pic>
        <p:nvPicPr>
          <p:cNvPr id="60" name="Picture 59">
            <a:extLst>
              <a:ext uri="{FF2B5EF4-FFF2-40B4-BE49-F238E27FC236}">
                <a16:creationId xmlns:a16="http://schemas.microsoft.com/office/drawing/2014/main" id="{14518C21-8446-4A57-964B-E155B204BB3A}"/>
              </a:ext>
            </a:extLst>
          </p:cNvPr>
          <p:cNvPicPr>
            <a:picLocks noChangeAspect="1"/>
          </p:cNvPicPr>
          <p:nvPr/>
        </p:nvPicPr>
        <p:blipFill rotWithShape="1">
          <a:blip r:embed="rId6">
            <a:extLst>
              <a:ext uri="{28A0092B-C50C-407E-A947-70E740481C1C}">
                <a14:useLocalDpi xmlns:a14="http://schemas.microsoft.com/office/drawing/2010/main" val="0"/>
              </a:ext>
            </a:extLst>
          </a:blip>
          <a:srcRect l="8822" t="12109" r="11045" b="12049"/>
          <a:stretch/>
        </p:blipFill>
        <p:spPr>
          <a:xfrm>
            <a:off x="4520725" y="1938824"/>
            <a:ext cx="1078179" cy="479635"/>
          </a:xfrm>
          <a:prstGeom prst="rect">
            <a:avLst/>
          </a:prstGeom>
        </p:spPr>
      </p:pic>
      <p:pic>
        <p:nvPicPr>
          <p:cNvPr id="61" name="Picture 60">
            <a:extLst>
              <a:ext uri="{FF2B5EF4-FFF2-40B4-BE49-F238E27FC236}">
                <a16:creationId xmlns:a16="http://schemas.microsoft.com/office/drawing/2014/main" id="{F6EB9C09-1C00-444B-9970-E3DE1637F59F}"/>
              </a:ext>
            </a:extLst>
          </p:cNvPr>
          <p:cNvPicPr>
            <a:picLocks noChangeAspect="1"/>
          </p:cNvPicPr>
          <p:nvPr/>
        </p:nvPicPr>
        <p:blipFill rotWithShape="1">
          <a:blip r:embed="rId7">
            <a:extLst>
              <a:ext uri="{28A0092B-C50C-407E-A947-70E740481C1C}">
                <a14:useLocalDpi xmlns:a14="http://schemas.microsoft.com/office/drawing/2010/main" val="0"/>
              </a:ext>
            </a:extLst>
          </a:blip>
          <a:srcRect t="16763" b="32965"/>
          <a:stretch/>
        </p:blipFill>
        <p:spPr>
          <a:xfrm>
            <a:off x="4520725" y="2486826"/>
            <a:ext cx="1078788" cy="516088"/>
          </a:xfrm>
          <a:prstGeom prst="rect">
            <a:avLst/>
          </a:prstGeom>
        </p:spPr>
      </p:pic>
      <p:pic>
        <p:nvPicPr>
          <p:cNvPr id="62" name="Picture 61">
            <a:extLst>
              <a:ext uri="{FF2B5EF4-FFF2-40B4-BE49-F238E27FC236}">
                <a16:creationId xmlns:a16="http://schemas.microsoft.com/office/drawing/2014/main" id="{62F181D0-8B61-40CC-89AC-C6EA707023EB}"/>
              </a:ext>
            </a:extLst>
          </p:cNvPr>
          <p:cNvPicPr>
            <a:picLocks noChangeAspect="1"/>
          </p:cNvPicPr>
          <p:nvPr/>
        </p:nvPicPr>
        <p:blipFill rotWithShape="1">
          <a:blip r:embed="rId8">
            <a:extLst>
              <a:ext uri="{28A0092B-C50C-407E-A947-70E740481C1C}">
                <a14:useLocalDpi xmlns:a14="http://schemas.microsoft.com/office/drawing/2010/main" val="0"/>
              </a:ext>
            </a:extLst>
          </a:blip>
          <a:srcRect l="16506" t="5292" r="15217"/>
          <a:stretch/>
        </p:blipFill>
        <p:spPr>
          <a:xfrm>
            <a:off x="4563454" y="1229220"/>
            <a:ext cx="1029721" cy="670937"/>
          </a:xfrm>
          <a:prstGeom prst="rect">
            <a:avLst/>
          </a:prstGeom>
        </p:spPr>
      </p:pic>
      <p:pic>
        <p:nvPicPr>
          <p:cNvPr id="63" name="Picture 62">
            <a:extLst>
              <a:ext uri="{FF2B5EF4-FFF2-40B4-BE49-F238E27FC236}">
                <a16:creationId xmlns:a16="http://schemas.microsoft.com/office/drawing/2014/main" id="{E3BA9F66-E919-466A-BCA5-7CB860D228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2120" b="1830"/>
          <a:stretch/>
        </p:blipFill>
        <p:spPr>
          <a:xfrm>
            <a:off x="10784793" y="2473707"/>
            <a:ext cx="1097440" cy="562923"/>
          </a:xfrm>
          <a:prstGeom prst="rect">
            <a:avLst/>
          </a:prstGeom>
        </p:spPr>
      </p:pic>
      <p:pic>
        <p:nvPicPr>
          <p:cNvPr id="66" name="Picture 65">
            <a:extLst>
              <a:ext uri="{FF2B5EF4-FFF2-40B4-BE49-F238E27FC236}">
                <a16:creationId xmlns:a16="http://schemas.microsoft.com/office/drawing/2014/main" id="{89616D73-3072-4726-B440-371BF22874E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759155" y="1905712"/>
            <a:ext cx="1120034" cy="517447"/>
          </a:xfrm>
          <a:prstGeom prst="rect">
            <a:avLst/>
          </a:prstGeom>
        </p:spPr>
      </p:pic>
      <p:pic>
        <p:nvPicPr>
          <p:cNvPr id="67" name="Picture 66" descr="download.jpg"/>
          <p:cNvPicPr>
            <a:picLocks noChangeAspect="1"/>
          </p:cNvPicPr>
          <p:nvPr/>
        </p:nvPicPr>
        <p:blipFill>
          <a:blip r:embed="rId11"/>
          <a:stretch>
            <a:fillRect/>
          </a:stretch>
        </p:blipFill>
        <p:spPr>
          <a:xfrm>
            <a:off x="4614729" y="598207"/>
            <a:ext cx="971804" cy="606750"/>
          </a:xfrm>
          <a:prstGeom prst="rect">
            <a:avLst/>
          </a:prstGeom>
        </p:spPr>
      </p:pic>
      <p:sp>
        <p:nvSpPr>
          <p:cNvPr id="68" name="Title 1">
            <a:extLst>
              <a:ext uri="{FF2B5EF4-FFF2-40B4-BE49-F238E27FC236}">
                <a16:creationId xmlns:a16="http://schemas.microsoft.com/office/drawing/2014/main" id="{3E59A521-324B-43FE-BCFD-E12526C8A28A}"/>
              </a:ext>
            </a:extLst>
          </p:cNvPr>
          <p:cNvSpPr txBox="1">
            <a:spLocks/>
          </p:cNvSpPr>
          <p:nvPr/>
        </p:nvSpPr>
        <p:spPr>
          <a:xfrm>
            <a:off x="2220618" y="28289"/>
            <a:ext cx="7727056"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1" name="Picture 20" descr="download.jpg"/>
          <p:cNvPicPr>
            <a:picLocks noChangeAspect="1"/>
          </p:cNvPicPr>
          <p:nvPr/>
        </p:nvPicPr>
        <p:blipFill>
          <a:blip r:embed="rId12"/>
          <a:stretch>
            <a:fillRect/>
          </a:stretch>
        </p:blipFill>
        <p:spPr>
          <a:xfrm>
            <a:off x="10870251" y="4268152"/>
            <a:ext cx="1026992" cy="508805"/>
          </a:xfrm>
          <a:prstGeom prst="rect">
            <a:avLst/>
          </a:prstGeom>
        </p:spPr>
      </p:pic>
      <p:pic>
        <p:nvPicPr>
          <p:cNvPr id="22" name="Picture 21" descr="download (1).jpg"/>
          <p:cNvPicPr>
            <a:picLocks noChangeAspect="1"/>
          </p:cNvPicPr>
          <p:nvPr/>
        </p:nvPicPr>
        <p:blipFill>
          <a:blip r:embed="rId13"/>
          <a:srcRect b="16429"/>
          <a:stretch>
            <a:fillRect/>
          </a:stretch>
        </p:blipFill>
        <p:spPr>
          <a:xfrm>
            <a:off x="10887342" y="4871104"/>
            <a:ext cx="1004238" cy="452286"/>
          </a:xfrm>
          <a:prstGeom prst="rect">
            <a:avLst/>
          </a:prstGeom>
        </p:spPr>
      </p:pic>
      <p:pic>
        <p:nvPicPr>
          <p:cNvPr id="23" name="Picture 22" descr="download.png"/>
          <p:cNvPicPr>
            <a:picLocks noChangeAspect="1"/>
          </p:cNvPicPr>
          <p:nvPr/>
        </p:nvPicPr>
        <p:blipFill>
          <a:blip r:embed="rId14"/>
          <a:stretch>
            <a:fillRect/>
          </a:stretch>
        </p:blipFill>
        <p:spPr>
          <a:xfrm>
            <a:off x="4529271" y="5845324"/>
            <a:ext cx="1025708" cy="547548"/>
          </a:xfrm>
          <a:prstGeom prst="rect">
            <a:avLst/>
          </a:prstGeom>
        </p:spPr>
      </p:pic>
      <p:pic>
        <p:nvPicPr>
          <p:cNvPr id="24" name="Picture 23" descr="spinning-mill-1.jpg"/>
          <p:cNvPicPr>
            <a:picLocks noChangeAspect="1"/>
          </p:cNvPicPr>
          <p:nvPr/>
        </p:nvPicPr>
        <p:blipFill>
          <a:blip r:embed="rId15" cstate="print"/>
          <a:stretch>
            <a:fillRect/>
          </a:stretch>
        </p:blipFill>
        <p:spPr>
          <a:xfrm>
            <a:off x="10759155" y="1262796"/>
            <a:ext cx="1140148" cy="598714"/>
          </a:xfrm>
          <a:prstGeom prst="rect">
            <a:avLst/>
          </a:prstGeom>
        </p:spPr>
      </p:pic>
      <p:pic>
        <p:nvPicPr>
          <p:cNvPr id="25" name="Picture 24">
            <a:extLst>
              <a:ext uri="{FF2B5EF4-FFF2-40B4-BE49-F238E27FC236}">
                <a16:creationId xmlns:a16="http://schemas.microsoft.com/office/drawing/2014/main" id="{90F8BEA1-8E97-4BF8-B9F4-E8EF875C4A3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2151" r="9513"/>
          <a:stretch/>
        </p:blipFill>
        <p:spPr>
          <a:xfrm>
            <a:off x="11066804" y="625873"/>
            <a:ext cx="844436" cy="572607"/>
          </a:xfrm>
          <a:prstGeom prst="rect">
            <a:avLst/>
          </a:prstGeom>
        </p:spPr>
      </p:pic>
      <p:pic>
        <p:nvPicPr>
          <p:cNvPr id="2050" name="Picture 2" descr="C:\Users\HP-RTS\Desktop\I TANK\Customer Lists\rmcl.jpg"/>
          <p:cNvPicPr>
            <a:picLocks noChangeAspect="1" noChangeArrowheads="1"/>
          </p:cNvPicPr>
          <p:nvPr/>
        </p:nvPicPr>
        <p:blipFill>
          <a:blip r:embed="rId17"/>
          <a:srcRect t="10884" b="11565"/>
          <a:stretch>
            <a:fillRect/>
          </a:stretch>
        </p:blipFill>
        <p:spPr bwMode="auto">
          <a:xfrm>
            <a:off x="4536614" y="5363688"/>
            <a:ext cx="1031719" cy="408389"/>
          </a:xfrm>
          <a:prstGeom prst="rect">
            <a:avLst/>
          </a:prstGeom>
          <a:noFill/>
        </p:spPr>
      </p:pic>
      <p:pic>
        <p:nvPicPr>
          <p:cNvPr id="28" name="Picture 27" descr="141819608-hen-incubate-eggs-in-the-nest-on-white-background-vector-logo-chicken-farm-products-from-chicken-mea.jpg"/>
          <p:cNvPicPr>
            <a:picLocks noChangeAspect="1"/>
          </p:cNvPicPr>
          <p:nvPr/>
        </p:nvPicPr>
        <p:blipFill>
          <a:blip r:embed="rId18" cstate="print"/>
          <a:stretch>
            <a:fillRect/>
          </a:stretch>
        </p:blipFill>
        <p:spPr>
          <a:xfrm>
            <a:off x="11125720" y="5358213"/>
            <a:ext cx="745671" cy="416715"/>
          </a:xfrm>
          <a:prstGeom prst="rect">
            <a:avLst/>
          </a:prstGeom>
        </p:spPr>
      </p:pic>
      <p:pic>
        <p:nvPicPr>
          <p:cNvPr id="29" name="Picture 28">
            <a:extLst>
              <a:ext uri="{FF2B5EF4-FFF2-40B4-BE49-F238E27FC236}">
                <a16:creationId xmlns:a16="http://schemas.microsoft.com/office/drawing/2014/main" id="{7A0B98AB-BE33-4635-8984-3190CD87960A}"/>
              </a:ext>
            </a:extLst>
          </p:cNvPr>
          <p:cNvPicPr>
            <a:picLocks noChangeAspect="1"/>
          </p:cNvPicPr>
          <p:nvPr/>
        </p:nvPicPr>
        <p:blipFill rotWithShape="1">
          <a:blip r:embed="rId19">
            <a:extLst>
              <a:ext uri="{28A0092B-C50C-407E-A947-70E740481C1C}">
                <a14:useLocalDpi xmlns:a14="http://schemas.microsoft.com/office/drawing/2010/main" val="0"/>
              </a:ext>
            </a:extLst>
          </a:blip>
          <a:srcRect t="32991" b="27935"/>
          <a:stretch/>
        </p:blipFill>
        <p:spPr>
          <a:xfrm>
            <a:off x="10836067" y="3717635"/>
            <a:ext cx="1044083" cy="445770"/>
          </a:xfrm>
          <a:prstGeom prst="rect">
            <a:avLst/>
          </a:prstGeom>
        </p:spPr>
      </p:pic>
      <p:pic>
        <p:nvPicPr>
          <p:cNvPr id="30" name="Picture 29" descr="WhatsApp Image 2021-07-23 at 5.33.57 PM.jpeg"/>
          <p:cNvPicPr>
            <a:picLocks noChangeAspect="1"/>
          </p:cNvPicPr>
          <p:nvPr/>
        </p:nvPicPr>
        <p:blipFill>
          <a:blip r:embed="rId20" cstate="print"/>
          <a:srcRect l="21750" t="10333" r="750" b="16000"/>
          <a:stretch>
            <a:fillRect/>
          </a:stretch>
        </p:blipFill>
        <p:spPr>
          <a:xfrm>
            <a:off x="10801884" y="3108962"/>
            <a:ext cx="1089588" cy="548638"/>
          </a:xfrm>
          <a:prstGeom prst="rect">
            <a:avLst/>
          </a:prstGeom>
        </p:spPr>
      </p:pic>
      <p:pic>
        <p:nvPicPr>
          <p:cNvPr id="2051" name="Picture 3"/>
          <p:cNvPicPr>
            <a:picLocks noChangeAspect="1" noChangeArrowheads="1"/>
          </p:cNvPicPr>
          <p:nvPr/>
        </p:nvPicPr>
        <p:blipFill>
          <a:blip r:embed="rId21"/>
          <a:srcRect/>
          <a:stretch>
            <a:fillRect/>
          </a:stretch>
        </p:blipFill>
        <p:spPr bwMode="auto">
          <a:xfrm>
            <a:off x="10878796" y="5860759"/>
            <a:ext cx="1045150" cy="599862"/>
          </a:xfrm>
          <a:prstGeom prst="rect">
            <a:avLst/>
          </a:prstGeom>
          <a:noFill/>
          <a:ln w="9525">
            <a:noFill/>
            <a:miter lim="800000"/>
            <a:headEnd/>
            <a:tailEnd/>
          </a:ln>
          <a:effectLst/>
        </p:spPr>
      </p:pic>
      <p:pic>
        <p:nvPicPr>
          <p:cNvPr id="27" name="Picture 2" descr="C:\Users\HP-RTS\Downloads\WhatsApp Image 2023-08-11 at 1.36.26 PM.png"/>
          <p:cNvPicPr>
            <a:picLocks noChangeAspect="1" noChangeArrowheads="1"/>
          </p:cNvPicPr>
          <p:nvPr/>
        </p:nvPicPr>
        <p:blipFill>
          <a:blip r:embed="rId22"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1368405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508260889"/>
              </p:ext>
            </p:extLst>
          </p:nvPr>
        </p:nvGraphicFramePr>
        <p:xfrm>
          <a:off x="289369" y="574950"/>
          <a:ext cx="11563107" cy="6121125"/>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6203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Sarvesh</a:t>
                      </a:r>
                      <a:r>
                        <a:rPr lang="en-IN" sz="2200" baseline="0" dirty="0">
                          <a:latin typeface="Times New Roman" pitchFamily="18" charset="0"/>
                          <a:cs typeface="Times New Roman" pitchFamily="18" charset="0"/>
                        </a:rPr>
                        <a:t> Multi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Plast</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The Indian Public School, Erode</a:t>
                      </a:r>
                    </a:p>
                  </a:txBody>
                  <a:tcPr marL="74295" marR="74295" anchor="ctr"/>
                </a:tc>
                <a:extLst>
                  <a:ext uri="{0D108BD9-81ED-4DB2-BD59-A6C34878D82A}">
                    <a16:rowId xmlns:a16="http://schemas.microsoft.com/office/drawing/2014/main" val="4208521853"/>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err="1">
                          <a:solidFill>
                            <a:schemeClr val="dk1"/>
                          </a:solidFill>
                          <a:latin typeface="Times New Roman" pitchFamily="18" charset="0"/>
                          <a:ea typeface="+mn-ea"/>
                          <a:cs typeface="Times New Roman" pitchFamily="18" charset="0"/>
                        </a:rPr>
                        <a:t>Annavaram</a:t>
                      </a:r>
                      <a:r>
                        <a:rPr kumimoji="0" lang="en-US" sz="2200" b="0" i="0" kern="1200" dirty="0">
                          <a:solidFill>
                            <a:schemeClr val="dk1"/>
                          </a:solidFill>
                          <a:latin typeface="Times New Roman" pitchFamily="18" charset="0"/>
                          <a:ea typeface="+mn-ea"/>
                          <a:cs typeface="Times New Roman" pitchFamily="18" charset="0"/>
                        </a:rPr>
                        <a:t> </a:t>
                      </a:r>
                      <a:r>
                        <a:rPr kumimoji="0" lang="en-US" sz="2200" b="0" i="0" kern="1200" dirty="0" err="1">
                          <a:solidFill>
                            <a:schemeClr val="dk1"/>
                          </a:solidFill>
                          <a:latin typeface="Times New Roman" pitchFamily="18" charset="0"/>
                          <a:ea typeface="+mn-ea"/>
                          <a:cs typeface="Times New Roman" pitchFamily="18" charset="0"/>
                        </a:rPr>
                        <a:t>Sathyanarayana</a:t>
                      </a:r>
                      <a:r>
                        <a:rPr kumimoji="0" lang="en-US" sz="2200" b="0" i="0" kern="1200" dirty="0">
                          <a:solidFill>
                            <a:schemeClr val="dk1"/>
                          </a:solidFill>
                          <a:latin typeface="Times New Roman" pitchFamily="18" charset="0"/>
                          <a:ea typeface="+mn-ea"/>
                          <a:cs typeface="Times New Roman"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a:solidFill>
                            <a:schemeClr val="dk1"/>
                          </a:solidFill>
                          <a:latin typeface="Times New Roman" pitchFamily="18" charset="0"/>
                          <a:ea typeface="+mn-ea"/>
                          <a:cs typeface="Times New Roman" pitchFamily="18" charset="0"/>
                        </a:rPr>
                        <a:t>Temple,</a:t>
                      </a:r>
                      <a:r>
                        <a:rPr kumimoji="0" lang="en-US" sz="2200" b="0" i="0" kern="1200" baseline="0" dirty="0">
                          <a:solidFill>
                            <a:schemeClr val="dk1"/>
                          </a:solidFill>
                          <a:latin typeface="Times New Roman" pitchFamily="18" charset="0"/>
                          <a:ea typeface="+mn-ea"/>
                          <a:cs typeface="Times New Roman" pitchFamily="18" charset="0"/>
                        </a:rPr>
                        <a:t> </a:t>
                      </a:r>
                      <a:r>
                        <a:rPr kumimoji="0" lang="en-US" sz="2200" b="0" i="0" kern="1200" dirty="0">
                          <a:solidFill>
                            <a:schemeClr val="dk1"/>
                          </a:solidFill>
                          <a:latin typeface="Times New Roman" pitchFamily="18" charset="0"/>
                          <a:ea typeface="+mn-ea"/>
                          <a:cs typeface="Times New Roman" pitchFamily="18" charset="0"/>
                        </a:rPr>
                        <a:t>Andhra Pradesh</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Venbro</a:t>
                      </a:r>
                      <a:r>
                        <a:rPr lang="en-IN" sz="2200" dirty="0">
                          <a:latin typeface="Times New Roman" pitchFamily="18" charset="0"/>
                          <a:cs typeface="Times New Roman" pitchFamily="18" charset="0"/>
                        </a:rPr>
                        <a:t> Polymers, </a:t>
                      </a:r>
                      <a:r>
                        <a:rPr lang="en-IN"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Maharishi </a:t>
                      </a:r>
                      <a:r>
                        <a:rPr lang="en-IN" sz="2200" dirty="0" err="1">
                          <a:latin typeface="Times New Roman" pitchFamily="18" charset="0"/>
                          <a:cs typeface="Times New Roman" pitchFamily="18" charset="0"/>
                        </a:rPr>
                        <a:t>Vidhya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Mandir</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Arasan</a:t>
                      </a:r>
                      <a:r>
                        <a:rPr lang="en-IN" sz="2200" dirty="0">
                          <a:latin typeface="Times New Roman" pitchFamily="18" charset="0"/>
                          <a:cs typeface="Times New Roman" pitchFamily="18" charset="0"/>
                        </a:rPr>
                        <a:t> Eye Hospital, Erode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Mahal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Tiruchengode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Angeripalayam</a:t>
                      </a:r>
                      <a:r>
                        <a:rPr lang="en-IN" sz="2200" dirty="0">
                          <a:latin typeface="Times New Roman" pitchFamily="18" charset="0"/>
                          <a:cs typeface="Times New Roman" pitchFamily="18" charset="0"/>
                        </a:rPr>
                        <a:t> CETP,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PSG Institutions,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Sivabakkiyam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Muthusamy</a:t>
                      </a:r>
                      <a:r>
                        <a:rPr lang="en-IN" sz="2200" dirty="0">
                          <a:latin typeface="Times New Roman" pitchFamily="18" charset="0"/>
                          <a:cs typeface="Times New Roman" pitchFamily="18" charset="0"/>
                        </a:rPr>
                        <a:t> School,</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Paramathi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G.Kuppusamy</a:t>
                      </a:r>
                      <a:r>
                        <a:rPr lang="en-IN" sz="2200" baseline="0" dirty="0">
                          <a:latin typeface="Times New Roman" pitchFamily="18" charset="0"/>
                          <a:cs typeface="Times New Roman" pitchFamily="18" charset="0"/>
                        </a:rPr>
                        <a:t> Naidu Memorial </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baseline="0" dirty="0">
                          <a:latin typeface="Times New Roman" pitchFamily="18" charset="0"/>
                          <a:cs typeface="Times New Roman" pitchFamily="18" charset="0"/>
                        </a:rPr>
                        <a:t>Hospital, Coimbatore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KPR Institute</a:t>
                      </a:r>
                      <a:r>
                        <a:rPr kumimoji="0" lang="en-US" sz="2200" b="0" i="0" u="none" strike="noStrike" kern="1200" baseline="0" dirty="0">
                          <a:solidFill>
                            <a:schemeClr val="dk1"/>
                          </a:solidFill>
                          <a:latin typeface="Times New Roman" pitchFamily="18" charset="0"/>
                          <a:ea typeface="+mn-ea"/>
                          <a:cs typeface="Times New Roman" pitchFamily="18" charset="0"/>
                        </a:rPr>
                        <a:t> of Technology, 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SRS Power </a:t>
                      </a:r>
                      <a:r>
                        <a:rPr kumimoji="0" lang="en-US" sz="2200" b="0" i="0" u="none" strike="noStrike" kern="1200" dirty="0" err="1">
                          <a:solidFill>
                            <a:schemeClr val="dk1"/>
                          </a:solidFill>
                          <a:latin typeface="Times New Roman" pitchFamily="18" charset="0"/>
                          <a:ea typeface="+mn-ea"/>
                          <a:cs typeface="Times New Roman" pitchFamily="18" charset="0"/>
                        </a:rPr>
                        <a:t>Tech,Coimbatore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M.Mahendran</a:t>
                      </a:r>
                      <a:r>
                        <a:rPr lang="en-IN" sz="2200" dirty="0">
                          <a:latin typeface="Times New Roman" pitchFamily="18" charset="0"/>
                          <a:cs typeface="Times New Roman" pitchFamily="18" charset="0"/>
                        </a:rPr>
                        <a:t> - Home, </a:t>
                      </a:r>
                      <a:r>
                        <a:rPr lang="en-IN" sz="2200" dirty="0" err="1">
                          <a:latin typeface="Times New Roman" pitchFamily="18" charset="0"/>
                          <a:cs typeface="Times New Roman" pitchFamily="18" charset="0"/>
                        </a:rPr>
                        <a:t>Kangeyam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Nandha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Institutions,Perundurai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VKS-Textiles, </a:t>
                      </a:r>
                      <a:r>
                        <a:rPr lang="en-IN" sz="2200" dirty="0" err="1">
                          <a:latin typeface="Times New Roman" pitchFamily="18" charset="0"/>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Rathinam</a:t>
                      </a:r>
                      <a:r>
                        <a:rPr lang="en-IN" sz="2200" baseline="0" dirty="0">
                          <a:latin typeface="Times New Roman" pitchFamily="18" charset="0"/>
                          <a:cs typeface="Times New Roman" pitchFamily="18" charset="0"/>
                        </a:rPr>
                        <a:t> Institutions, Coimbatore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K.M.T Hospital, </a:t>
                      </a:r>
                      <a:r>
                        <a:rPr lang="en-IN" sz="2200" dirty="0" err="1">
                          <a:latin typeface="Times New Roman" pitchFamily="18" charset="0"/>
                          <a:cs typeface="Times New Roman" pitchFamily="18" charset="0"/>
                        </a:rPr>
                        <a:t>Tiruchendur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b="0" dirty="0" err="1">
                          <a:latin typeface="Times New Roman" pitchFamily="18" charset="0"/>
                          <a:cs typeface="Times New Roman" pitchFamily="18" charset="0"/>
                        </a:rPr>
                        <a:t>Balasundaram</a:t>
                      </a:r>
                      <a:r>
                        <a:rPr lang="en-IN" sz="2200" b="0" dirty="0">
                          <a:latin typeface="Times New Roman" pitchFamily="18" charset="0"/>
                          <a:cs typeface="Times New Roman" pitchFamily="18" charset="0"/>
                        </a:rPr>
                        <a:t> - Home, 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N-Tex Apparels private</a:t>
                      </a:r>
                      <a:r>
                        <a:rPr lang="en-IN" sz="2200" baseline="0" dirty="0">
                          <a:latin typeface="Times New Roman" pitchFamily="18" charset="0"/>
                          <a:cs typeface="Times New Roman" pitchFamily="18" charset="0"/>
                        </a:rPr>
                        <a:t> Limited, </a:t>
                      </a:r>
                      <a:r>
                        <a:rPr lang="en-IN"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147378" y="-39372"/>
            <a:ext cx="7805913" cy="639025"/>
          </a:xfrm>
          <a:prstGeom prst="rect">
            <a:avLst/>
          </a:prstGeom>
        </p:spPr>
        <p:txBody>
          <a:bodyPr lIns="80456" tIns="40228" rIns="80456" bIns="40228">
            <a:norm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6" name="Picture 5" descr="WhatsApp Image 2021-08-26 at 6.08.55 PM.jpeg"/>
          <p:cNvPicPr>
            <a:picLocks noChangeAspect="1"/>
          </p:cNvPicPr>
          <p:nvPr/>
        </p:nvPicPr>
        <p:blipFill>
          <a:blip r:embed="rId2" cstate="print"/>
          <a:srcRect l="6281" t="9883" r="1188" b="4978"/>
          <a:stretch>
            <a:fillRect/>
          </a:stretch>
        </p:blipFill>
        <p:spPr>
          <a:xfrm>
            <a:off x="10705860" y="4680585"/>
            <a:ext cx="1097280" cy="457200"/>
          </a:xfrm>
          <a:prstGeom prst="rect">
            <a:avLst/>
          </a:prstGeom>
        </p:spPr>
      </p:pic>
      <p:pic>
        <p:nvPicPr>
          <p:cNvPr id="10" name="Picture 9" descr="sarvesh.png"/>
          <p:cNvPicPr>
            <a:picLocks noChangeAspect="1"/>
          </p:cNvPicPr>
          <p:nvPr/>
        </p:nvPicPr>
        <p:blipFill>
          <a:blip r:embed="rId3"/>
          <a:stretch>
            <a:fillRect/>
          </a:stretch>
        </p:blipFill>
        <p:spPr>
          <a:xfrm>
            <a:off x="4391792" y="649748"/>
            <a:ext cx="1268730" cy="501746"/>
          </a:xfrm>
          <a:prstGeom prst="rect">
            <a:avLst/>
          </a:prstGeom>
        </p:spPr>
      </p:pic>
      <p:pic>
        <p:nvPicPr>
          <p:cNvPr id="1026" name="Picture 2" descr="C:\Users\HP-RTS\Desktop\I TANK\Customer Lists\Annavaram.jpg"/>
          <p:cNvPicPr>
            <a:picLocks noChangeAspect="1" noChangeArrowheads="1"/>
          </p:cNvPicPr>
          <p:nvPr/>
        </p:nvPicPr>
        <p:blipFill>
          <a:blip r:embed="rId4"/>
          <a:srcRect/>
          <a:stretch>
            <a:fillRect/>
          </a:stretch>
        </p:blipFill>
        <p:spPr bwMode="auto">
          <a:xfrm>
            <a:off x="4374700" y="1308735"/>
            <a:ext cx="1280159" cy="594360"/>
          </a:xfrm>
          <a:prstGeom prst="rect">
            <a:avLst/>
          </a:prstGeom>
          <a:noFill/>
        </p:spPr>
      </p:pic>
      <p:pic>
        <p:nvPicPr>
          <p:cNvPr id="14" name="Picture 13">
            <a:extLst>
              <a:ext uri="{FF2B5EF4-FFF2-40B4-BE49-F238E27FC236}">
                <a16:creationId xmlns:a16="http://schemas.microsoft.com/office/drawing/2014/main" id="{01AADD97-651C-4D0D-B485-977B69F3F4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4070" y="643016"/>
            <a:ext cx="1233743" cy="528024"/>
          </a:xfrm>
          <a:prstGeom prst="rect">
            <a:avLst/>
          </a:prstGeom>
        </p:spPr>
      </p:pic>
      <p:pic>
        <p:nvPicPr>
          <p:cNvPr id="15" name="Picture 14">
            <a:extLst>
              <a:ext uri="{FF2B5EF4-FFF2-40B4-BE49-F238E27FC236}">
                <a16:creationId xmlns:a16="http://schemas.microsoft.com/office/drawing/2014/main" id="{34A40D04-B9CF-4AE5-86FB-EE5A840D7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0546" y="5226776"/>
            <a:ext cx="1095849" cy="436789"/>
          </a:xfrm>
          <a:prstGeom prst="rect">
            <a:avLst/>
          </a:prstGeom>
        </p:spPr>
      </p:pic>
      <p:pic>
        <p:nvPicPr>
          <p:cNvPr id="17" name="Picture 16">
            <a:extLst>
              <a:ext uri="{FF2B5EF4-FFF2-40B4-BE49-F238E27FC236}">
                <a16:creationId xmlns:a16="http://schemas.microsoft.com/office/drawing/2014/main" id="{2D6F6CB6-4526-4299-8B7A-4D8D992C80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38904" y="3114675"/>
            <a:ext cx="708032" cy="696098"/>
          </a:xfrm>
          <a:prstGeom prst="rect">
            <a:avLst/>
          </a:prstGeom>
        </p:spPr>
      </p:pic>
      <p:pic>
        <p:nvPicPr>
          <p:cNvPr id="1027" name="Picture 3" descr="C:\Users\HP-RTS\Desktop\I TANK\Customer Lists\kmt.png"/>
          <p:cNvPicPr>
            <a:picLocks noChangeAspect="1" noChangeArrowheads="1"/>
          </p:cNvPicPr>
          <p:nvPr/>
        </p:nvPicPr>
        <p:blipFill>
          <a:blip r:embed="rId8"/>
          <a:srcRect/>
          <a:stretch>
            <a:fillRect/>
          </a:stretch>
        </p:blipFill>
        <p:spPr bwMode="auto">
          <a:xfrm>
            <a:off x="11240375" y="5683566"/>
            <a:ext cx="568875" cy="455627"/>
          </a:xfrm>
          <a:prstGeom prst="rect">
            <a:avLst/>
          </a:prstGeom>
          <a:noFill/>
        </p:spPr>
      </p:pic>
      <p:pic>
        <p:nvPicPr>
          <p:cNvPr id="1030" name="Picture 6" descr="C:\Users\HP-RTS\Desktop\I TANK\Customer Lists\venbro.jpg"/>
          <p:cNvPicPr>
            <a:picLocks noChangeAspect="1" noChangeArrowheads="1"/>
          </p:cNvPicPr>
          <p:nvPr/>
        </p:nvPicPr>
        <p:blipFill>
          <a:blip r:embed="rId9"/>
          <a:srcRect t="22400" b="23600"/>
          <a:stretch>
            <a:fillRect/>
          </a:stretch>
        </p:blipFill>
        <p:spPr bwMode="auto">
          <a:xfrm>
            <a:off x="10579693" y="1247953"/>
            <a:ext cx="1227338" cy="683664"/>
          </a:xfrm>
          <a:prstGeom prst="rect">
            <a:avLst/>
          </a:prstGeom>
          <a:noFill/>
        </p:spPr>
      </p:pic>
      <p:pic>
        <p:nvPicPr>
          <p:cNvPr id="1031" name="Picture 7" descr="C:\Users\HP-RTS\Desktop\I TANK\Customer Lists\arasan.jpg"/>
          <p:cNvPicPr>
            <a:picLocks noChangeAspect="1" noChangeArrowheads="1"/>
          </p:cNvPicPr>
          <p:nvPr/>
        </p:nvPicPr>
        <p:blipFill>
          <a:blip r:embed="rId10"/>
          <a:srcRect/>
          <a:stretch>
            <a:fillRect/>
          </a:stretch>
        </p:blipFill>
        <p:spPr bwMode="auto">
          <a:xfrm>
            <a:off x="10648059" y="2017076"/>
            <a:ext cx="1146535" cy="471728"/>
          </a:xfrm>
          <a:prstGeom prst="rect">
            <a:avLst/>
          </a:prstGeom>
          <a:noFill/>
        </p:spPr>
      </p:pic>
      <p:pic>
        <p:nvPicPr>
          <p:cNvPr id="1032" name="Picture 8" descr="C:\Users\HP-RTS\Desktop\I TANK\Customer Lists\acetp.jpg"/>
          <p:cNvPicPr>
            <a:picLocks noChangeAspect="1" noChangeArrowheads="1"/>
          </p:cNvPicPr>
          <p:nvPr/>
        </p:nvPicPr>
        <p:blipFill>
          <a:blip r:embed="rId11"/>
          <a:srcRect/>
          <a:stretch>
            <a:fillRect/>
          </a:stretch>
        </p:blipFill>
        <p:spPr bwMode="auto">
          <a:xfrm>
            <a:off x="10665151" y="2529823"/>
            <a:ext cx="1117907" cy="539025"/>
          </a:xfrm>
          <a:prstGeom prst="rect">
            <a:avLst/>
          </a:prstGeom>
          <a:noFill/>
        </p:spPr>
      </p:pic>
      <p:pic>
        <p:nvPicPr>
          <p:cNvPr id="1033" name="Picture 9" descr="C:\Users\HP-RTS\Desktop\I TANK\Customer Lists\sm school.png"/>
          <p:cNvPicPr>
            <a:picLocks noChangeAspect="1" noChangeArrowheads="1"/>
          </p:cNvPicPr>
          <p:nvPr/>
        </p:nvPicPr>
        <p:blipFill>
          <a:blip r:embed="rId12"/>
          <a:srcRect/>
          <a:stretch>
            <a:fillRect/>
          </a:stretch>
        </p:blipFill>
        <p:spPr bwMode="auto">
          <a:xfrm>
            <a:off x="11102972" y="3117533"/>
            <a:ext cx="671511" cy="671511"/>
          </a:xfrm>
          <a:prstGeom prst="rect">
            <a:avLst/>
          </a:prstGeom>
          <a:noFill/>
        </p:spPr>
      </p:pic>
      <p:pic>
        <p:nvPicPr>
          <p:cNvPr id="1035" name="Picture 11" descr="C:\Users\HP-RTS\Desktop\I TANK\Customer Lists\srs senthil.png"/>
          <p:cNvPicPr>
            <a:picLocks noChangeAspect="1" noChangeArrowheads="1"/>
          </p:cNvPicPr>
          <p:nvPr/>
        </p:nvPicPr>
        <p:blipFill>
          <a:blip r:embed="rId13"/>
          <a:srcRect t="12870"/>
          <a:stretch>
            <a:fillRect/>
          </a:stretch>
        </p:blipFill>
        <p:spPr bwMode="auto">
          <a:xfrm>
            <a:off x="4589093" y="4672039"/>
            <a:ext cx="1085320" cy="502920"/>
          </a:xfrm>
          <a:prstGeom prst="rect">
            <a:avLst/>
          </a:prstGeom>
          <a:noFill/>
        </p:spPr>
      </p:pic>
      <p:pic>
        <p:nvPicPr>
          <p:cNvPr id="28" name="Picture 27" descr="WhatsApp Image 2021-08-17 at 4.06.56 PM (1).jpeg"/>
          <p:cNvPicPr>
            <a:picLocks noChangeAspect="1"/>
          </p:cNvPicPr>
          <p:nvPr/>
        </p:nvPicPr>
        <p:blipFill>
          <a:blip r:embed="rId14" cstate="print"/>
          <a:srcRect l="36148" t="4833" r="34519" b="5333"/>
          <a:stretch>
            <a:fillRect/>
          </a:stretch>
        </p:blipFill>
        <p:spPr>
          <a:xfrm rot="16200000">
            <a:off x="11027825" y="4880704"/>
            <a:ext cx="462916" cy="1102806"/>
          </a:xfrm>
          <a:prstGeom prst="rect">
            <a:avLst/>
          </a:prstGeom>
        </p:spPr>
      </p:pic>
      <p:pic>
        <p:nvPicPr>
          <p:cNvPr id="1036" name="Picture 12" descr="C:\Users\HP-RTS\Desktop\I TANK\Customer Lists\kongu mahal.jpg"/>
          <p:cNvPicPr>
            <a:picLocks noChangeAspect="1" noChangeArrowheads="1"/>
          </p:cNvPicPr>
          <p:nvPr/>
        </p:nvPicPr>
        <p:blipFill>
          <a:blip r:embed="rId15"/>
          <a:srcRect/>
          <a:stretch>
            <a:fillRect/>
          </a:stretch>
        </p:blipFill>
        <p:spPr bwMode="auto">
          <a:xfrm>
            <a:off x="4469130" y="2554605"/>
            <a:ext cx="1179640" cy="494348"/>
          </a:xfrm>
          <a:prstGeom prst="rect">
            <a:avLst/>
          </a:prstGeom>
          <a:noFill/>
        </p:spPr>
      </p:pic>
      <p:pic>
        <p:nvPicPr>
          <p:cNvPr id="1037" name="Picture 13" descr="C:\Users\HP-RTS\Desktop\I TANK\Customer Lists\balasundaram.jpg"/>
          <p:cNvPicPr>
            <a:picLocks noChangeAspect="1" noChangeArrowheads="1"/>
          </p:cNvPicPr>
          <p:nvPr/>
        </p:nvPicPr>
        <p:blipFill>
          <a:blip r:embed="rId16"/>
          <a:srcRect/>
          <a:stretch>
            <a:fillRect/>
          </a:stretch>
        </p:blipFill>
        <p:spPr bwMode="auto">
          <a:xfrm>
            <a:off x="4544894" y="6171511"/>
            <a:ext cx="1090956" cy="472757"/>
          </a:xfrm>
          <a:prstGeom prst="rect">
            <a:avLst/>
          </a:prstGeom>
          <a:noFill/>
        </p:spPr>
      </p:pic>
      <p:pic>
        <p:nvPicPr>
          <p:cNvPr id="24" name="Picture 23" descr="N TEX.png"/>
          <p:cNvPicPr>
            <a:picLocks noChangeAspect="1"/>
          </p:cNvPicPr>
          <p:nvPr/>
        </p:nvPicPr>
        <p:blipFill>
          <a:blip r:embed="rId17"/>
          <a:stretch>
            <a:fillRect/>
          </a:stretch>
        </p:blipFill>
        <p:spPr>
          <a:xfrm>
            <a:off x="10707881" y="6192518"/>
            <a:ext cx="1075178" cy="461753"/>
          </a:xfrm>
          <a:prstGeom prst="rect">
            <a:avLst/>
          </a:prstGeom>
        </p:spPr>
      </p:pic>
      <p:pic>
        <p:nvPicPr>
          <p:cNvPr id="25" name="Picture 2" descr="C:\Users\HP-RTS\Downloads\WhatsApp Image 2023-08-11 at 1.36.26 PM.png"/>
          <p:cNvPicPr>
            <a:picLocks noChangeAspect="1" noChangeArrowheads="1"/>
          </p:cNvPicPr>
          <p:nvPr/>
        </p:nvPicPr>
        <p:blipFill>
          <a:blip r:embed="rId18" cstate="print"/>
          <a:srcRect l="24688" t="15000" r="22000" b="32500"/>
          <a:stretch>
            <a:fillRect/>
          </a:stretch>
        </p:blipFill>
        <p:spPr bwMode="auto">
          <a:xfrm>
            <a:off x="11055245" y="74147"/>
            <a:ext cx="818090" cy="402811"/>
          </a:xfrm>
          <a:prstGeom prst="rect">
            <a:avLst/>
          </a:prstGeom>
          <a:noFill/>
        </p:spPr>
      </p:pic>
      <p:pic>
        <p:nvPicPr>
          <p:cNvPr id="4" name="Picture 2"/>
          <p:cNvPicPr>
            <a:picLocks noChangeAspect="1" noChangeArrowheads="1"/>
          </p:cNvPicPr>
          <p:nvPr/>
        </p:nvPicPr>
        <p:blipFill>
          <a:blip r:embed="rId19"/>
          <a:srcRect t="7595"/>
          <a:stretch>
            <a:fillRect/>
          </a:stretch>
        </p:blipFill>
        <p:spPr bwMode="auto">
          <a:xfrm>
            <a:off x="4568092" y="3948424"/>
            <a:ext cx="1069804" cy="623843"/>
          </a:xfrm>
          <a:prstGeom prst="rect">
            <a:avLst/>
          </a:prstGeom>
          <a:noFill/>
          <a:ln w="9525">
            <a:noFill/>
            <a:miter lim="800000"/>
            <a:headEnd/>
            <a:tailEnd/>
          </a:ln>
          <a:effectLst/>
        </p:spPr>
      </p:pic>
      <p:pic>
        <p:nvPicPr>
          <p:cNvPr id="5" name="Picture 3"/>
          <p:cNvPicPr>
            <a:picLocks noChangeAspect="1" noChangeArrowheads="1"/>
          </p:cNvPicPr>
          <p:nvPr/>
        </p:nvPicPr>
        <p:blipFill>
          <a:blip r:embed="rId20" cstate="print"/>
          <a:srcRect/>
          <a:stretch>
            <a:fillRect/>
          </a:stretch>
        </p:blipFill>
        <p:spPr bwMode="auto">
          <a:xfrm>
            <a:off x="4568092" y="5693092"/>
            <a:ext cx="1095398" cy="421958"/>
          </a:xfrm>
          <a:prstGeom prst="rect">
            <a:avLst/>
          </a:prstGeom>
          <a:noFill/>
          <a:ln w="9525">
            <a:noFill/>
            <a:miter lim="800000"/>
            <a:headEnd/>
            <a:tailEnd/>
          </a:ln>
          <a:effectLst/>
        </p:spPr>
      </p:pic>
      <p:pic>
        <p:nvPicPr>
          <p:cNvPr id="1028" name="Picture 4"/>
          <p:cNvPicPr>
            <a:picLocks noChangeAspect="1" noChangeArrowheads="1"/>
          </p:cNvPicPr>
          <p:nvPr/>
        </p:nvPicPr>
        <p:blipFill>
          <a:blip r:embed="rId21" cstate="print"/>
          <a:srcRect/>
          <a:stretch>
            <a:fillRect/>
          </a:stretch>
        </p:blipFill>
        <p:spPr bwMode="auto">
          <a:xfrm>
            <a:off x="10699335" y="3888604"/>
            <a:ext cx="1058863" cy="741954"/>
          </a:xfrm>
          <a:prstGeom prst="rect">
            <a:avLst/>
          </a:prstGeom>
          <a:noFill/>
          <a:ln w="9525">
            <a:noFill/>
            <a:miter lim="800000"/>
            <a:headEnd/>
            <a:tailEnd/>
          </a:ln>
          <a:effectLst/>
        </p:spPr>
      </p:pic>
      <p:pic>
        <p:nvPicPr>
          <p:cNvPr id="1029" name="Picture 5"/>
          <p:cNvPicPr>
            <a:picLocks noChangeAspect="1" noChangeArrowheads="1"/>
          </p:cNvPicPr>
          <p:nvPr/>
        </p:nvPicPr>
        <p:blipFill>
          <a:blip r:embed="rId22"/>
          <a:srcRect/>
          <a:stretch>
            <a:fillRect/>
          </a:stretch>
        </p:blipFill>
        <p:spPr bwMode="auto">
          <a:xfrm>
            <a:off x="4674550" y="2059805"/>
            <a:ext cx="986755" cy="398166"/>
          </a:xfrm>
          <a:prstGeom prst="rect">
            <a:avLst/>
          </a:prstGeom>
          <a:noFill/>
          <a:ln w="9525">
            <a:noFill/>
            <a:miter lim="800000"/>
            <a:headEnd/>
            <a:tailEnd/>
          </a:ln>
          <a:effectLst/>
        </p:spPr>
      </p:pic>
    </p:spTree>
    <p:extLst>
      <p:ext uri="{BB962C8B-B14F-4D97-AF65-F5344CB8AC3E}">
        <p14:creationId xmlns:p14="http://schemas.microsoft.com/office/powerpoint/2010/main" val="2055417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1358487860"/>
              </p:ext>
            </p:extLst>
          </p:nvPr>
        </p:nvGraphicFramePr>
        <p:xfrm>
          <a:off x="289369" y="575695"/>
          <a:ext cx="11563107" cy="6055682"/>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500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Podaran</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Melapalayam</a:t>
                      </a:r>
                      <a:r>
                        <a:rPr lang="en-IN" sz="1900" dirty="0">
                          <a:latin typeface="Times New Roman" pitchFamily="18" charset="0"/>
                          <a:cs typeface="Times New Roman" pitchFamily="18" charset="0"/>
                        </a:rPr>
                        <a:t> - </a:t>
                      </a:r>
                      <a:r>
                        <a:rPr lang="en-IN" sz="1900" dirty="0" err="1">
                          <a:latin typeface="Times New Roman" pitchFamily="18" charset="0"/>
                          <a:cs typeface="Times New Roman" pitchFamily="18" charset="0"/>
                        </a:rPr>
                        <a:t>Kangayam</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Chinnakarai</a:t>
                      </a:r>
                      <a:r>
                        <a:rPr lang="en-US" sz="1900" b="0" dirty="0">
                          <a:latin typeface="Times New Roman" pitchFamily="18" charset="0"/>
                          <a:cs typeface="Times New Roman" pitchFamily="18" charset="0"/>
                        </a:rPr>
                        <a:t> Common Effluent Treatment Plant (P)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Limited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607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A.R </a:t>
                      </a:r>
                      <a:r>
                        <a:rPr lang="en-IN" sz="1900" b="0" dirty="0" err="1">
                          <a:latin typeface="Times New Roman" pitchFamily="18" charset="0"/>
                          <a:cs typeface="Times New Roman" pitchFamily="18" charset="0"/>
                        </a:rPr>
                        <a:t>Aswin</a:t>
                      </a:r>
                      <a:r>
                        <a:rPr lang="en-IN" sz="1900" b="0" dirty="0">
                          <a:latin typeface="Times New Roman" pitchFamily="18" charset="0"/>
                          <a:cs typeface="Times New Roman" pitchFamily="18" charset="0"/>
                        </a:rPr>
                        <a:t> Home – </a:t>
                      </a:r>
                      <a:r>
                        <a:rPr lang="en-IN" sz="1900" b="0" dirty="0" err="1">
                          <a:latin typeface="Times New Roman" pitchFamily="18" charset="0"/>
                          <a:cs typeface="Times New Roman" pitchFamily="18" charset="0"/>
                        </a:rPr>
                        <a:t>Kangayam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Jaishriram</a:t>
                      </a:r>
                      <a:r>
                        <a:rPr lang="en-IN" sz="1800" b="0" dirty="0">
                          <a:latin typeface="Times New Roman" pitchFamily="18" charset="0"/>
                          <a:cs typeface="Times New Roman" pitchFamily="18" charset="0"/>
                        </a:rPr>
                        <a:t> Engineering College, </a:t>
                      </a:r>
                      <a:r>
                        <a:rPr lang="en-IN" sz="1800" b="0" dirty="0" err="1">
                          <a:latin typeface="Times New Roman" pitchFamily="18" charset="0"/>
                          <a:cs typeface="Times New Roman" pitchFamily="18" charset="0"/>
                        </a:rPr>
                        <a:t>Tirupur</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Mahalakshmi</a:t>
                      </a:r>
                      <a:r>
                        <a:rPr lang="en-IN" sz="1900" b="0" dirty="0">
                          <a:latin typeface="Times New Roman" pitchFamily="18" charset="0"/>
                          <a:cs typeface="Times New Roman" pitchFamily="18" charset="0"/>
                        </a:rPr>
                        <a:t> Poultry</a:t>
                      </a:r>
                      <a:r>
                        <a:rPr lang="en-IN" sz="1900" b="0" baseline="0" dirty="0">
                          <a:latin typeface="Times New Roman" pitchFamily="18" charset="0"/>
                          <a:cs typeface="Times New Roman" pitchFamily="18" charset="0"/>
                        </a:rPr>
                        <a:t>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SSVM, Institutions, Coimbatore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Vivekanandha</a:t>
                      </a:r>
                      <a:r>
                        <a:rPr lang="en-US" sz="1900" b="0" dirty="0">
                          <a:latin typeface="Times New Roman" pitchFamily="18" charset="0"/>
                          <a:cs typeface="Times New Roman" pitchFamily="18" charset="0"/>
                        </a:rPr>
                        <a:t> College of Engineering for </a:t>
                      </a:r>
                    </a:p>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Women - </a:t>
                      </a:r>
                      <a:r>
                        <a:rPr kumimoji="0" lang="en-US" sz="1900" b="0" i="0" kern="1200" dirty="0">
                          <a:solidFill>
                            <a:schemeClr val="dk1"/>
                          </a:solidFill>
                          <a:latin typeface="Times New Roman" pitchFamily="18" charset="0"/>
                          <a:ea typeface="+mn-ea"/>
                          <a:cs typeface="Times New Roman" pitchFamily="18" charset="0"/>
                        </a:rPr>
                        <a:t> </a:t>
                      </a:r>
                      <a:r>
                        <a:rPr kumimoji="0" lang="en-US" sz="1900" b="0" i="0" kern="1200" dirty="0" err="1">
                          <a:solidFill>
                            <a:schemeClr val="dk1"/>
                          </a:solidFill>
                          <a:latin typeface="Times New Roman" pitchFamily="18" charset="0"/>
                          <a:ea typeface="+mn-ea"/>
                          <a:cs typeface="Times New Roman" pitchFamily="18" charset="0"/>
                        </a:rPr>
                        <a:t>Elayampalayam</a:t>
                      </a:r>
                      <a:r>
                        <a:rPr lang="en-US" sz="1900" b="0" dirty="0">
                          <a:latin typeface="Times New Roman" pitchFamily="18" charset="0"/>
                          <a:cs typeface="Times New Roman" pitchFamily="18" charset="0"/>
                        </a:rPr>
                        <a:t> </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Sakthi</a:t>
                      </a:r>
                      <a:r>
                        <a:rPr lang="en-IN" sz="1900" b="0" dirty="0">
                          <a:latin typeface="Times New Roman" pitchFamily="18" charset="0"/>
                          <a:cs typeface="Times New Roman" pitchFamily="18" charset="0"/>
                        </a:rPr>
                        <a:t> Sugars Limited – </a:t>
                      </a:r>
                      <a:r>
                        <a:rPr lang="en-IN" sz="1900" b="0" dirty="0" err="1">
                          <a:latin typeface="Times New Roman" pitchFamily="18" charset="0"/>
                          <a:cs typeface="Times New Roman" pitchFamily="18" charset="0"/>
                        </a:rPr>
                        <a:t>Appakudal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628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Chendhoor</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Murughan</a:t>
                      </a:r>
                      <a:r>
                        <a:rPr lang="en-IN" sz="1900" dirty="0">
                          <a:latin typeface="Times New Roman" pitchFamily="18" charset="0"/>
                          <a:cs typeface="Times New Roman" pitchFamily="18" charset="0"/>
                        </a:rPr>
                        <a:t> Yarn Tex-</a:t>
                      </a:r>
                      <a:r>
                        <a:rPr lang="en-IN" sz="1900" dirty="0" err="1">
                          <a:latin typeface="Times New Roman" pitchFamily="18" charset="0"/>
                          <a:cs typeface="Times New Roman" pitchFamily="18" charset="0"/>
                        </a:rPr>
                        <a:t>Veppadi</a:t>
                      </a:r>
                      <a:endParaRPr lang="en-IN" sz="19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Times New Roman" pitchFamily="18" charset="0"/>
                          <a:cs typeface="Times New Roman" pitchFamily="18" charset="0"/>
                        </a:rPr>
                        <a:t>Seshasayee</a:t>
                      </a:r>
                      <a:r>
                        <a:rPr lang="en-US" sz="1900" dirty="0">
                          <a:latin typeface="Times New Roman" pitchFamily="18" charset="0"/>
                          <a:cs typeface="Times New Roman" pitchFamily="18" charset="0"/>
                        </a:rPr>
                        <a:t> Paper and Boards Limited</a:t>
                      </a:r>
                      <a:r>
                        <a:rPr lang="en-US" sz="1900" baseline="0" dirty="0">
                          <a:latin typeface="Times New Roman" pitchFamily="18" charset="0"/>
                          <a:cs typeface="Times New Roman" pitchFamily="18" charset="0"/>
                        </a:rPr>
                        <a:t> – </a:t>
                      </a:r>
                      <a:r>
                        <a:rPr lang="en-US" sz="1900" baseline="0" dirty="0" err="1">
                          <a:latin typeface="Times New Roman" pitchFamily="18" charset="0"/>
                          <a:cs typeface="Times New Roman" pitchFamily="18" charset="0"/>
                        </a:rPr>
                        <a:t>Pallipalayam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834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Ponmani</a:t>
                      </a:r>
                      <a:r>
                        <a:rPr lang="en-IN" sz="1900" b="0" baseline="0" dirty="0">
                          <a:latin typeface="Times New Roman" pitchFamily="18" charset="0"/>
                          <a:cs typeface="Times New Roman" pitchFamily="18" charset="0"/>
                        </a:rPr>
                        <a:t> Poultry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Navaladi</a:t>
                      </a:r>
                      <a:r>
                        <a:rPr lang="en-IN" sz="1900" b="0" dirty="0">
                          <a:latin typeface="Times New Roman" pitchFamily="18" charset="0"/>
                          <a:cs typeface="Times New Roman" pitchFamily="18" charset="0"/>
                        </a:rPr>
                        <a:t> Poultry Farms – </a:t>
                      </a:r>
                      <a:r>
                        <a:rPr lang="en-IN" sz="1900" b="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Palladam</a:t>
                      </a:r>
                      <a:r>
                        <a:rPr kumimoji="0" lang="en-US" sz="1900" b="0" i="0" u="none" strike="noStrike" kern="1200" dirty="0">
                          <a:solidFill>
                            <a:schemeClr val="dk1"/>
                          </a:solidFill>
                          <a:latin typeface="Times New Roman" pitchFamily="18" charset="0"/>
                          <a:ea typeface="+mn-ea"/>
                          <a:cs typeface="Times New Roman" pitchFamily="18" charset="0"/>
                        </a:rPr>
                        <a:t> Water Projects – </a:t>
                      </a:r>
                      <a:r>
                        <a:rPr kumimoji="0" lang="en-US" sz="1900" b="0" i="0" u="none" strike="noStrike" kern="1200" dirty="0" err="1">
                          <a:solidFill>
                            <a:schemeClr val="dk1"/>
                          </a:solidFill>
                          <a:latin typeface="Times New Roman" pitchFamily="18" charset="0"/>
                          <a:ea typeface="+mn-ea"/>
                          <a:cs typeface="Times New Roman" pitchFamily="18" charset="0"/>
                        </a:rPr>
                        <a:t>Palladam</a:t>
                      </a:r>
                      <a:endParaRPr kumimoji="0" lang="en-US" sz="19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Kumaraguru</a:t>
                      </a:r>
                      <a:r>
                        <a:rPr lang="en-IN" sz="1900" dirty="0">
                          <a:latin typeface="Times New Roman" pitchFamily="18" charset="0"/>
                          <a:cs typeface="Times New Roman" pitchFamily="18" charset="0"/>
                        </a:rPr>
                        <a:t> College of Technology, Coimbatore</a:t>
                      </a: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K.S.</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Rangasamy</a:t>
                      </a:r>
                      <a:r>
                        <a:rPr lang="en-IN" sz="1900" b="0" baseline="0" dirty="0">
                          <a:latin typeface="Times New Roman" pitchFamily="18" charset="0"/>
                          <a:cs typeface="Times New Roman" pitchFamily="18" charset="0"/>
                        </a:rPr>
                        <a:t> College of Technology-</a:t>
                      </a:r>
                      <a:r>
                        <a:rPr lang="en-IN" sz="1900" b="0" dirty="0">
                          <a:latin typeface="Times New Roman" pitchFamily="18" charset="0"/>
                          <a:cs typeface="Times New Roman"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Tiruchengode</a:t>
                      </a:r>
                      <a:r>
                        <a:rPr lang="en-IN" sz="1900" b="0" dirty="0">
                          <a:latin typeface="Times New Roman" pitchFamily="18" charset="0"/>
                          <a:cs typeface="Times New Roman" pitchFamily="18" charset="0"/>
                        </a:rPr>
                        <a:t>.</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Best Cotton</a:t>
                      </a:r>
                      <a:r>
                        <a:rPr lang="en-US" sz="1900" b="0" baseline="0" dirty="0">
                          <a:latin typeface="Times New Roman" pitchFamily="18" charset="0"/>
                          <a:cs typeface="Times New Roman" pitchFamily="18" charset="0"/>
                        </a:rPr>
                        <a:t> Mill (RRD Tex) - </a:t>
                      </a:r>
                      <a:r>
                        <a:rPr lang="en-US" sz="1900" b="0" baseline="0" dirty="0" err="1">
                          <a:latin typeface="Times New Roman" pitchFamily="18" charset="0"/>
                          <a:cs typeface="Times New Roman" pitchFamily="18" charset="0"/>
                        </a:rPr>
                        <a:t>Dharapuram</a:t>
                      </a:r>
                      <a:endParaRPr lang="en-IN" sz="19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SPAC Starch Products (India)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 Limited – </a:t>
                      </a:r>
                      <a:r>
                        <a:rPr kumimoji="0" lang="en-US" sz="1900" b="0" i="0" kern="1200" dirty="0" err="1">
                          <a:solidFill>
                            <a:schemeClr val="dk1"/>
                          </a:solidFill>
                          <a:latin typeface="Times New Roman" pitchFamily="18" charset="0"/>
                          <a:ea typeface="+mn-ea"/>
                          <a:cs typeface="Times New Roman" pitchFamily="18" charset="0"/>
                        </a:rPr>
                        <a:t>Anthiyur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baseline="0" dirty="0" err="1">
                          <a:latin typeface="Times New Roman" pitchFamily="18" charset="0"/>
                          <a:cs typeface="Times New Roman" pitchFamily="18" charset="0"/>
                        </a:rPr>
                        <a:t>Gharuda</a:t>
                      </a:r>
                      <a:r>
                        <a:rPr lang="en-IN" sz="1900" b="0" baseline="0" dirty="0">
                          <a:latin typeface="Times New Roman" pitchFamily="18" charset="0"/>
                          <a:cs typeface="Times New Roman" pitchFamily="18" charset="0"/>
                        </a:rPr>
                        <a:t> Apartment – Erode </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Tamil Nadu Newsprint and Papers Limited - </a:t>
                      </a:r>
                      <a:r>
                        <a:rPr kumimoji="0" lang="en-US" sz="1900" b="0" i="0" kern="1200" dirty="0" err="1">
                          <a:solidFill>
                            <a:schemeClr val="dk1"/>
                          </a:solidFill>
                          <a:latin typeface="Times New Roman" pitchFamily="18" charset="0"/>
                          <a:ea typeface="+mn-ea"/>
                          <a:cs typeface="Times New Roman" pitchFamily="18" charset="0"/>
                        </a:rPr>
                        <a:t>kagithapuram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Mahendra</a:t>
                      </a:r>
                      <a:r>
                        <a:rPr lang="en-IN" sz="1900" b="0" dirty="0">
                          <a:latin typeface="Times New Roman" pitchFamily="18" charset="0"/>
                          <a:cs typeface="Times New Roman" pitchFamily="18" charset="0"/>
                        </a:rPr>
                        <a:t> Engineering</a:t>
                      </a:r>
                      <a:r>
                        <a:rPr lang="en-IN" sz="1900" b="0" baseline="0" dirty="0">
                          <a:latin typeface="Times New Roman" pitchFamily="18" charset="0"/>
                          <a:cs typeface="Times New Roman" pitchFamily="18" charset="0"/>
                        </a:rPr>
                        <a:t> College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269106" y="-21609"/>
            <a:ext cx="7615803" cy="399392"/>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4" name="Picture 3" descr="podaran.png"/>
          <p:cNvPicPr>
            <a:picLocks noChangeAspect="1"/>
          </p:cNvPicPr>
          <p:nvPr/>
        </p:nvPicPr>
        <p:blipFill>
          <a:blip r:embed="rId3" cstate="print"/>
          <a:stretch>
            <a:fillRect/>
          </a:stretch>
        </p:blipFill>
        <p:spPr>
          <a:xfrm>
            <a:off x="4888194" y="623733"/>
            <a:ext cx="785032" cy="589769"/>
          </a:xfrm>
          <a:prstGeom prst="rect">
            <a:avLst/>
          </a:prstGeom>
        </p:spPr>
      </p:pic>
      <p:pic>
        <p:nvPicPr>
          <p:cNvPr id="5" name="Picture 4" descr="159033648029906.jpg"/>
          <p:cNvPicPr>
            <a:picLocks noChangeAspect="1"/>
          </p:cNvPicPr>
          <p:nvPr/>
        </p:nvPicPr>
        <p:blipFill>
          <a:blip r:embed="rId4" cstate="print"/>
          <a:stretch>
            <a:fillRect/>
          </a:stretch>
        </p:blipFill>
        <p:spPr>
          <a:xfrm>
            <a:off x="4867288" y="1264279"/>
            <a:ext cx="788670" cy="445770"/>
          </a:xfrm>
          <a:prstGeom prst="rect">
            <a:avLst/>
          </a:prstGeom>
        </p:spPr>
      </p:pic>
      <p:pic>
        <p:nvPicPr>
          <p:cNvPr id="6" name="Picture 5" descr="141819608-hen-incubate-eggs-in-the-nest-on-white-background-vector-logo-chicken-farm-products-from-chicken-mea.jpg"/>
          <p:cNvPicPr>
            <a:picLocks noChangeAspect="1"/>
          </p:cNvPicPr>
          <p:nvPr/>
        </p:nvPicPr>
        <p:blipFill>
          <a:blip r:embed="rId5" cstate="print"/>
          <a:stretch>
            <a:fillRect/>
          </a:stretch>
        </p:blipFill>
        <p:spPr>
          <a:xfrm>
            <a:off x="4879650" y="1768979"/>
            <a:ext cx="780042" cy="408203"/>
          </a:xfrm>
          <a:prstGeom prst="rect">
            <a:avLst/>
          </a:prstGeom>
        </p:spPr>
      </p:pic>
      <p:pic>
        <p:nvPicPr>
          <p:cNvPr id="8" name="Picture 7" descr="chendhoor murughan.png"/>
          <p:cNvPicPr>
            <a:picLocks noChangeAspect="1"/>
          </p:cNvPicPr>
          <p:nvPr/>
        </p:nvPicPr>
        <p:blipFill>
          <a:blip r:embed="rId6" cstate="print"/>
          <a:stretch>
            <a:fillRect/>
          </a:stretch>
        </p:blipFill>
        <p:spPr>
          <a:xfrm>
            <a:off x="4871103" y="2934209"/>
            <a:ext cx="768305" cy="582504"/>
          </a:xfrm>
          <a:prstGeom prst="rect">
            <a:avLst/>
          </a:prstGeom>
        </p:spPr>
      </p:pic>
      <p:pic>
        <p:nvPicPr>
          <p:cNvPr id="9" name="Picture 8" descr="vivekanandha LOGO.png"/>
          <p:cNvPicPr>
            <a:picLocks noChangeAspect="1"/>
          </p:cNvPicPr>
          <p:nvPr/>
        </p:nvPicPr>
        <p:blipFill>
          <a:blip r:embed="rId7"/>
          <a:stretch>
            <a:fillRect/>
          </a:stretch>
        </p:blipFill>
        <p:spPr>
          <a:xfrm>
            <a:off x="4879650" y="2247592"/>
            <a:ext cx="765332" cy="617483"/>
          </a:xfrm>
          <a:prstGeom prst="rect">
            <a:avLst/>
          </a:prstGeom>
        </p:spPr>
      </p:pic>
      <p:pic>
        <p:nvPicPr>
          <p:cNvPr id="10" name="Picture 9" descr="320094488M-1632542630993.jpg"/>
          <p:cNvPicPr>
            <a:picLocks noChangeAspect="1"/>
          </p:cNvPicPr>
          <p:nvPr/>
        </p:nvPicPr>
        <p:blipFill>
          <a:blip r:embed="rId8" cstate="print"/>
          <a:srcRect l="6759" r="13586" b="7185"/>
          <a:stretch>
            <a:fillRect/>
          </a:stretch>
        </p:blipFill>
        <p:spPr>
          <a:xfrm>
            <a:off x="4896741" y="4071678"/>
            <a:ext cx="743484" cy="517927"/>
          </a:xfrm>
          <a:prstGeom prst="rect">
            <a:avLst/>
          </a:prstGeom>
        </p:spPr>
      </p:pic>
      <p:pic>
        <p:nvPicPr>
          <p:cNvPr id="11" name="Picture 10" descr="KSR Logo.png"/>
          <p:cNvPicPr>
            <a:picLocks noChangeAspect="1"/>
          </p:cNvPicPr>
          <p:nvPr/>
        </p:nvPicPr>
        <p:blipFill>
          <a:blip r:embed="rId9"/>
          <a:stretch>
            <a:fillRect/>
          </a:stretch>
        </p:blipFill>
        <p:spPr>
          <a:xfrm>
            <a:off x="4930923" y="4643703"/>
            <a:ext cx="756436" cy="649859"/>
          </a:xfrm>
          <a:prstGeom prst="rect">
            <a:avLst/>
          </a:prstGeom>
        </p:spPr>
      </p:pic>
      <p:pic>
        <p:nvPicPr>
          <p:cNvPr id="12" name="Picture 11" descr="download.png"/>
          <p:cNvPicPr>
            <a:picLocks noChangeAspect="1"/>
          </p:cNvPicPr>
          <p:nvPr/>
        </p:nvPicPr>
        <p:blipFill>
          <a:blip r:embed="rId10"/>
          <a:stretch>
            <a:fillRect/>
          </a:stretch>
        </p:blipFill>
        <p:spPr>
          <a:xfrm>
            <a:off x="4913832" y="5347825"/>
            <a:ext cx="758379" cy="548772"/>
          </a:xfrm>
          <a:prstGeom prst="rect">
            <a:avLst/>
          </a:prstGeom>
        </p:spPr>
      </p:pic>
      <p:pic>
        <p:nvPicPr>
          <p:cNvPr id="13" name="Picture 12" descr="TNPL-Logo1.jpg"/>
          <p:cNvPicPr>
            <a:picLocks noChangeAspect="1"/>
          </p:cNvPicPr>
          <p:nvPr/>
        </p:nvPicPr>
        <p:blipFill>
          <a:blip r:embed="rId11" cstate="print"/>
          <a:stretch>
            <a:fillRect/>
          </a:stretch>
        </p:blipFill>
        <p:spPr>
          <a:xfrm>
            <a:off x="4862556" y="5985964"/>
            <a:ext cx="767749" cy="594297"/>
          </a:xfrm>
          <a:prstGeom prst="rect">
            <a:avLst/>
          </a:prstGeom>
        </p:spPr>
      </p:pic>
      <p:pic>
        <p:nvPicPr>
          <p:cNvPr id="16" name="Picture 15" descr="broiler.jpg"/>
          <p:cNvPicPr>
            <a:picLocks noChangeAspect="1"/>
          </p:cNvPicPr>
          <p:nvPr/>
        </p:nvPicPr>
        <p:blipFill>
          <a:blip r:embed="rId12" cstate="print"/>
          <a:stretch>
            <a:fillRect/>
          </a:stretch>
        </p:blipFill>
        <p:spPr>
          <a:xfrm>
            <a:off x="4896740" y="3580688"/>
            <a:ext cx="734940" cy="471701"/>
          </a:xfrm>
          <a:prstGeom prst="rect">
            <a:avLst/>
          </a:prstGeom>
        </p:spPr>
      </p:pic>
      <p:pic>
        <p:nvPicPr>
          <p:cNvPr id="17" name="Picture 16" descr="WhatsApp Image 2021-10-18 at 1.21.27.jpeg"/>
          <p:cNvPicPr>
            <a:picLocks noChangeAspect="1"/>
          </p:cNvPicPr>
          <p:nvPr/>
        </p:nvPicPr>
        <p:blipFill>
          <a:blip r:embed="rId13" cstate="print"/>
          <a:srcRect l="5226" r="9113" b="11950"/>
          <a:stretch>
            <a:fillRect/>
          </a:stretch>
        </p:blipFill>
        <p:spPr>
          <a:xfrm>
            <a:off x="10976830" y="640067"/>
            <a:ext cx="819807" cy="553942"/>
          </a:xfrm>
          <a:prstGeom prst="rect">
            <a:avLst/>
          </a:prstGeom>
        </p:spPr>
      </p:pic>
      <p:pic>
        <p:nvPicPr>
          <p:cNvPr id="14" name="Picture 1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978216" y="2936299"/>
            <a:ext cx="829205" cy="550383"/>
          </a:xfrm>
          <a:prstGeom prst="rect">
            <a:avLst/>
          </a:prstGeom>
        </p:spPr>
      </p:pic>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64254" y="2278373"/>
            <a:ext cx="833260" cy="576311"/>
          </a:xfrm>
          <a:prstGeom prst="rect">
            <a:avLst/>
          </a:prstGeom>
        </p:spPr>
      </p:pic>
      <p:pic>
        <p:nvPicPr>
          <p:cNvPr id="15" name="Picture 1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81346" y="3585206"/>
            <a:ext cx="806422" cy="446401"/>
          </a:xfrm>
          <a:prstGeom prst="rect">
            <a:avLst/>
          </a:prstGeom>
        </p:spPr>
      </p:pic>
      <p:pic>
        <p:nvPicPr>
          <p:cNvPr id="19" name="Picture 2" descr="Best Corporation (P) Limited"/>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819140" y="4665911"/>
            <a:ext cx="995702" cy="54452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p:cNvPicPr>
            <a:picLocks noChangeAspect="1"/>
          </p:cNvPicPr>
          <p:nvPr/>
        </p:nvPicPr>
        <p:blipFill rotWithShape="1">
          <a:blip r:embed="rId18" cstate="print">
            <a:extLst>
              <a:ext uri="{28A0092B-C50C-407E-A947-70E740481C1C}">
                <a14:useLocalDpi xmlns:a14="http://schemas.microsoft.com/office/drawing/2010/main" val="0"/>
              </a:ext>
            </a:extLst>
          </a:blip>
          <a:srcRect l="12538" b="46453"/>
          <a:stretch/>
        </p:blipFill>
        <p:spPr>
          <a:xfrm>
            <a:off x="10844613" y="5319873"/>
            <a:ext cx="954422" cy="602673"/>
          </a:xfrm>
          <a:prstGeom prst="rect">
            <a:avLst/>
          </a:prstGeom>
        </p:spPr>
      </p:pic>
      <p:pic>
        <p:nvPicPr>
          <p:cNvPr id="23" name="Picture 2" descr="C:\Users\HP-RTS\Downloads\WhatsApp Image 2023-08-11 at 1.36.26 PM.png"/>
          <p:cNvPicPr>
            <a:picLocks noChangeAspect="1" noChangeArrowheads="1"/>
          </p:cNvPicPr>
          <p:nvPr/>
        </p:nvPicPr>
        <p:blipFill>
          <a:blip r:embed="rId19" cstate="print"/>
          <a:srcRect l="24688" t="15000" r="22000" b="32500"/>
          <a:stretch>
            <a:fillRect/>
          </a:stretch>
        </p:blipFill>
        <p:spPr bwMode="auto">
          <a:xfrm>
            <a:off x="11055245" y="74147"/>
            <a:ext cx="818090" cy="402811"/>
          </a:xfrm>
          <a:prstGeom prst="rect">
            <a:avLst/>
          </a:prstGeom>
          <a:noFill/>
        </p:spPr>
      </p:pic>
      <p:pic>
        <p:nvPicPr>
          <p:cNvPr id="2050" name="Picture 2"/>
          <p:cNvPicPr>
            <a:picLocks noChangeAspect="1" noChangeArrowheads="1"/>
          </p:cNvPicPr>
          <p:nvPr/>
        </p:nvPicPr>
        <p:blipFill>
          <a:blip r:embed="rId20" cstate="print"/>
          <a:srcRect/>
          <a:stretch>
            <a:fillRect/>
          </a:stretch>
        </p:blipFill>
        <p:spPr bwMode="auto">
          <a:xfrm>
            <a:off x="10861705" y="5987847"/>
            <a:ext cx="917187" cy="583869"/>
          </a:xfrm>
          <a:prstGeom prst="rect">
            <a:avLst/>
          </a:prstGeom>
          <a:noFill/>
          <a:ln w="9525">
            <a:noFill/>
            <a:miter lim="800000"/>
            <a:headEnd/>
            <a:tailEnd/>
          </a:ln>
          <a:effectLst/>
        </p:spPr>
      </p:pic>
      <p:pic>
        <p:nvPicPr>
          <p:cNvPr id="2051" name="Picture 3"/>
          <p:cNvPicPr>
            <a:picLocks noChangeAspect="1" noChangeArrowheads="1"/>
          </p:cNvPicPr>
          <p:nvPr/>
        </p:nvPicPr>
        <p:blipFill>
          <a:blip r:embed="rId21" cstate="print"/>
          <a:srcRect/>
          <a:stretch>
            <a:fillRect/>
          </a:stretch>
        </p:blipFill>
        <p:spPr bwMode="auto">
          <a:xfrm>
            <a:off x="10947163" y="1709159"/>
            <a:ext cx="837487" cy="492816"/>
          </a:xfrm>
          <a:prstGeom prst="rect">
            <a:avLst/>
          </a:prstGeom>
          <a:noFill/>
          <a:ln w="9525">
            <a:noFill/>
            <a:miter lim="800000"/>
            <a:headEnd/>
            <a:tailEnd/>
          </a:ln>
          <a:effectLst/>
        </p:spPr>
      </p:pic>
      <p:pic>
        <p:nvPicPr>
          <p:cNvPr id="2052" name="Picture 4"/>
          <p:cNvPicPr>
            <a:picLocks noChangeAspect="1" noChangeArrowheads="1"/>
          </p:cNvPicPr>
          <p:nvPr/>
        </p:nvPicPr>
        <p:blipFill>
          <a:blip r:embed="rId22" cstate="print"/>
          <a:srcRect/>
          <a:stretch>
            <a:fillRect/>
          </a:stretch>
        </p:blipFill>
        <p:spPr bwMode="auto">
          <a:xfrm>
            <a:off x="10938615" y="1290415"/>
            <a:ext cx="855411" cy="411074"/>
          </a:xfrm>
          <a:prstGeom prst="rect">
            <a:avLst/>
          </a:prstGeom>
          <a:noFill/>
          <a:ln w="9525">
            <a:noFill/>
            <a:miter lim="800000"/>
            <a:headEnd/>
            <a:tailEnd/>
          </a:ln>
          <a:effectLst/>
        </p:spPr>
      </p:pic>
      <p:pic>
        <p:nvPicPr>
          <p:cNvPr id="2053" name="Picture 5"/>
          <p:cNvPicPr>
            <a:picLocks noChangeAspect="1" noChangeArrowheads="1"/>
          </p:cNvPicPr>
          <p:nvPr/>
        </p:nvPicPr>
        <p:blipFill>
          <a:blip r:embed="rId23"/>
          <a:srcRect t="2910"/>
          <a:stretch>
            <a:fillRect/>
          </a:stretch>
        </p:blipFill>
        <p:spPr bwMode="auto">
          <a:xfrm>
            <a:off x="10964254" y="4084891"/>
            <a:ext cx="841924" cy="487109"/>
          </a:xfrm>
          <a:prstGeom prst="rect">
            <a:avLst/>
          </a:prstGeom>
          <a:noFill/>
          <a:ln w="9525">
            <a:noFill/>
            <a:miter lim="800000"/>
            <a:headEnd/>
            <a:tailEnd/>
          </a:ln>
          <a:effectLst/>
        </p:spPr>
      </p:pic>
    </p:spTree>
    <p:extLst>
      <p:ext uri="{BB962C8B-B14F-4D97-AF65-F5344CB8AC3E}">
        <p14:creationId xmlns:p14="http://schemas.microsoft.com/office/powerpoint/2010/main" val="420919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572469200"/>
              </p:ext>
            </p:extLst>
          </p:nvPr>
        </p:nvGraphicFramePr>
        <p:xfrm>
          <a:off x="289369" y="518507"/>
          <a:ext cx="11563107" cy="5987198"/>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491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SPIRO Educational Institute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Apex -</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Kodaikanal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524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Aalaya</a:t>
                      </a:r>
                      <a:r>
                        <a:rPr lang="en-IN" sz="1900" b="0" dirty="0">
                          <a:latin typeface="Times New Roman" pitchFamily="18" charset="0"/>
                          <a:cs typeface="Times New Roman" pitchFamily="18" charset="0"/>
                        </a:rPr>
                        <a:t> academy</a:t>
                      </a:r>
                      <a:r>
                        <a:rPr lang="en-IN" sz="1900" b="0" baseline="0" dirty="0">
                          <a:latin typeface="Times New Roman" pitchFamily="18" charset="0"/>
                          <a:cs typeface="Times New Roman" pitchFamily="18" charset="0"/>
                        </a:rPr>
                        <a:t> - </a:t>
                      </a:r>
                      <a:r>
                        <a:rPr lang="en-IN" sz="1900" b="0" baseline="0" dirty="0" err="1">
                          <a:latin typeface="Times New Roman" pitchFamily="18" charset="0"/>
                          <a:cs typeface="Times New Roman" pitchFamily="18" charset="0"/>
                        </a:rPr>
                        <a:t>Tirupur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Devaraja</a:t>
                      </a:r>
                      <a:r>
                        <a:rPr lang="en-IN" sz="1800" b="0" dirty="0">
                          <a:latin typeface="Times New Roman" pitchFamily="18" charset="0"/>
                          <a:cs typeface="Times New Roman" pitchFamily="18" charset="0"/>
                        </a:rPr>
                        <a:t> Agro Industries - </a:t>
                      </a:r>
                      <a:r>
                        <a:rPr lang="en-IN" sz="1800" b="0" dirty="0" err="1">
                          <a:latin typeface="Times New Roman" pitchFamily="18" charset="0"/>
                          <a:cs typeface="Times New Roman" pitchFamily="18" charset="0"/>
                        </a:rPr>
                        <a:t>Krishnagiri</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11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VSM </a:t>
                      </a:r>
                      <a:r>
                        <a:rPr lang="en-IN" sz="1900" b="0" dirty="0" err="1">
                          <a:latin typeface="Times New Roman" pitchFamily="18" charset="0"/>
                          <a:cs typeface="Times New Roman" pitchFamily="18" charset="0"/>
                        </a:rPr>
                        <a:t>Weavess</a:t>
                      </a:r>
                      <a:r>
                        <a:rPr lang="en-IN" sz="1900" b="0" baseline="0" dirty="0">
                          <a:latin typeface="Times New Roman" pitchFamily="18" charset="0"/>
                          <a:cs typeface="Times New Roman" pitchFamily="18" charset="0"/>
                        </a:rPr>
                        <a:t> India (P) Limited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latin typeface="Times New Roman" pitchFamily="18" charset="0"/>
                          <a:cs typeface="Times New Roman" pitchFamily="18" charset="0"/>
                        </a:rPr>
                        <a:t>SUA </a:t>
                      </a:r>
                      <a:r>
                        <a:rPr lang="en-IN" sz="2000" b="0" dirty="0" err="1">
                          <a:latin typeface="Times New Roman" pitchFamily="18" charset="0"/>
                          <a:cs typeface="Times New Roman" pitchFamily="18" charset="0"/>
                        </a:rPr>
                        <a:t>Serenetia</a:t>
                      </a:r>
                      <a:r>
                        <a:rPr lang="en-IN" sz="2000" b="0" dirty="0">
                          <a:latin typeface="Times New Roman" pitchFamily="18" charset="0"/>
                          <a:cs typeface="Times New Roman" pitchFamily="18" charset="0"/>
                        </a:rPr>
                        <a:t> - </a:t>
                      </a:r>
                      <a:r>
                        <a:rPr lang="en-IN" sz="2000" b="0" dirty="0" err="1">
                          <a:latin typeface="Times New Roman" pitchFamily="18" charset="0"/>
                          <a:cs typeface="Times New Roman" pitchFamily="18" charset="0"/>
                        </a:rPr>
                        <a:t>Coonoor</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5402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Texmo</a:t>
                      </a:r>
                      <a:r>
                        <a:rPr lang="en-IN" sz="1900" b="0" dirty="0">
                          <a:latin typeface="Times New Roman" pitchFamily="18" charset="0"/>
                          <a:cs typeface="Times New Roman" pitchFamily="18" charset="0"/>
                        </a:rPr>
                        <a:t> Industries Pump</a:t>
                      </a:r>
                      <a:r>
                        <a:rPr lang="en-IN" sz="1900" b="0" baseline="0" dirty="0">
                          <a:latin typeface="Times New Roman" pitchFamily="18" charset="0"/>
                          <a:cs typeface="Times New Roman" pitchFamily="18" charset="0"/>
                        </a:rPr>
                        <a:t> Division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Vellalar</a:t>
                      </a:r>
                      <a:r>
                        <a:rPr lang="en-US" sz="2000" b="0" baseline="0" dirty="0">
                          <a:latin typeface="Times New Roman" pitchFamily="18" charset="0"/>
                          <a:cs typeface="Times New Roman" pitchFamily="18" charset="0"/>
                        </a:rPr>
                        <a:t> Educational Trust</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587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Tamilmani</a:t>
                      </a:r>
                      <a:r>
                        <a:rPr lang="en-IN" sz="1900" dirty="0">
                          <a:latin typeface="Times New Roman" pitchFamily="18" charset="0"/>
                          <a:cs typeface="Times New Roman" pitchFamily="18" charset="0"/>
                        </a:rPr>
                        <a:t> Poultry Farm – </a:t>
                      </a:r>
                      <a:r>
                        <a:rPr lang="en-IN" sz="1900" dirty="0" err="1">
                          <a:latin typeface="Times New Roman" pitchFamily="18" charset="0"/>
                          <a:cs typeface="Times New Roman" pitchFamily="18" charset="0"/>
                        </a:rPr>
                        <a:t>Namakkal</a:t>
                      </a:r>
                      <a:r>
                        <a:rPr lang="en-IN" sz="1900" dirty="0">
                          <a:latin typeface="Times New Roman" pitchFamily="18" charset="0"/>
                          <a:cs typeface="Times New Roman" pitchFamily="18" charset="0"/>
                        </a:rPr>
                        <a:t> </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Jai</a:t>
                      </a:r>
                      <a:r>
                        <a:rPr lang="en-IN" sz="1900" baseline="0" dirty="0">
                          <a:latin typeface="Times New Roman" pitchFamily="18" charset="0"/>
                          <a:cs typeface="Times New Roman" pitchFamily="18" charset="0"/>
                        </a:rPr>
                        <a:t> Ram Arts &amp; Science College - Salem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74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JPS Academy - </a:t>
                      </a:r>
                      <a:r>
                        <a:rPr lang="en-IN" sz="1900" b="0" dirty="0" err="1">
                          <a:latin typeface="Times New Roman" pitchFamily="18" charset="0"/>
                          <a:cs typeface="Times New Roman" pitchFamily="18" charset="0"/>
                        </a:rPr>
                        <a:t>Thirchengode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Kummu</a:t>
                      </a:r>
                      <a:r>
                        <a:rPr lang="en-IN" sz="1800" b="0" dirty="0">
                          <a:latin typeface="Times New Roman" pitchFamily="18" charset="0"/>
                          <a:cs typeface="Times New Roman" pitchFamily="18" charset="0"/>
                        </a:rPr>
                        <a:t> </a:t>
                      </a:r>
                      <a:r>
                        <a:rPr lang="en-IN" sz="1800" b="0" dirty="0" err="1">
                          <a:latin typeface="Times New Roman" pitchFamily="18" charset="0"/>
                          <a:cs typeface="Times New Roman" pitchFamily="18" charset="0"/>
                        </a:rPr>
                        <a:t>Mahal</a:t>
                      </a:r>
                      <a:r>
                        <a:rPr lang="en-IN" sz="1800" b="0" dirty="0">
                          <a:latin typeface="Times New Roman" pitchFamily="18" charset="0"/>
                          <a:cs typeface="Times New Roman" pitchFamily="18" charset="0"/>
                        </a:rPr>
                        <a:t> – </a:t>
                      </a:r>
                      <a:r>
                        <a:rPr lang="en-IN" sz="1800" b="0" dirty="0" err="1">
                          <a:latin typeface="Times New Roman" pitchFamily="18" charset="0"/>
                          <a:cs typeface="Times New Roman" pitchFamily="18" charset="0"/>
                        </a:rPr>
                        <a:t>Perundurai</a:t>
                      </a:r>
                      <a:r>
                        <a:rPr lang="en-IN" sz="1800" b="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2045795545"/>
                  </a:ext>
                </a:extLst>
              </a:tr>
              <a:tr h="5040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Shanthi</a:t>
                      </a:r>
                      <a:r>
                        <a:rPr kumimoji="0" lang="en-US" sz="1900" b="0" i="0" u="none" strike="noStrike" kern="1200" dirty="0">
                          <a:solidFill>
                            <a:schemeClr val="dk1"/>
                          </a:solidFill>
                          <a:latin typeface="Times New Roman" pitchFamily="18" charset="0"/>
                          <a:ea typeface="+mn-ea"/>
                          <a:cs typeface="Times New Roman" pitchFamily="18" charset="0"/>
                        </a:rPr>
                        <a:t> Gears -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Ponnusamy</a:t>
                      </a:r>
                      <a:r>
                        <a:rPr lang="en-IN" sz="1900" dirty="0">
                          <a:latin typeface="Times New Roman" pitchFamily="18" charset="0"/>
                          <a:cs typeface="Times New Roman" pitchFamily="18" charset="0"/>
                        </a:rPr>
                        <a:t> Poultry Farms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69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Dhiyanalinga</a:t>
                      </a:r>
                      <a:r>
                        <a:rPr lang="en-IN" sz="1900" b="0" dirty="0">
                          <a:latin typeface="Times New Roman" pitchFamily="18" charset="0"/>
                          <a:cs typeface="Times New Roman" pitchFamily="18" charset="0"/>
                        </a:rPr>
                        <a:t> Modern Rice Mills – </a:t>
                      </a:r>
                      <a:r>
                        <a:rPr lang="en-IN" sz="1900" b="0" dirty="0" err="1">
                          <a:latin typeface="Times New Roman" pitchFamily="18" charset="0"/>
                          <a:cs typeface="Times New Roman" pitchFamily="18" charset="0"/>
                        </a:rPr>
                        <a:t>Palladam</a:t>
                      </a:r>
                      <a:r>
                        <a:rPr lang="en-IN" sz="1900" b="0" dirty="0">
                          <a:latin typeface="Times New Roman" pitchFamily="18" charset="0"/>
                          <a:cs typeface="Times New Roman" pitchFamily="18" charset="0"/>
                        </a:rPr>
                        <a:t> </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Leyercaud</a:t>
                      </a:r>
                      <a:r>
                        <a:rPr lang="en-IN" sz="1900" b="0" dirty="0">
                          <a:latin typeface="Times New Roman" pitchFamily="18" charset="0"/>
                          <a:cs typeface="Times New Roman" pitchFamily="18" charset="0"/>
                        </a:rPr>
                        <a:t> Resort - </a:t>
                      </a:r>
                      <a:r>
                        <a:rPr lang="en-IN" sz="1900" b="0" dirty="0" err="1">
                          <a:latin typeface="Times New Roman" pitchFamily="18" charset="0"/>
                          <a:cs typeface="Times New Roman" pitchFamily="18" charset="0"/>
                        </a:rPr>
                        <a:t>Yercaud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717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Venus</a:t>
                      </a:r>
                      <a:r>
                        <a:rPr lang="en-IN" sz="1900" b="0" baseline="0" dirty="0">
                          <a:latin typeface="Times New Roman" pitchFamily="18" charset="0"/>
                          <a:cs typeface="Times New Roman" pitchFamily="18" charset="0"/>
                        </a:rPr>
                        <a:t> Home Appliance - </a:t>
                      </a:r>
                      <a:r>
                        <a:rPr lang="en-IN" sz="1900" b="0" baseline="0" dirty="0" err="1">
                          <a:latin typeface="Times New Roman" pitchFamily="18" charset="0"/>
                          <a:cs typeface="Times New Roman" pitchFamily="18" charset="0"/>
                        </a:rPr>
                        <a:t>Thuthukudi</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VSR Industrial Corporation - Erode</a:t>
                      </a:r>
                    </a:p>
                  </a:txBody>
                  <a:tcPr marL="74295" marR="74295" anchor="ctr"/>
                </a:tc>
                <a:extLst>
                  <a:ext uri="{0D108BD9-81ED-4DB2-BD59-A6C34878D82A}">
                    <a16:rowId xmlns:a16="http://schemas.microsoft.com/office/drawing/2014/main" val="2433702436"/>
                  </a:ext>
                </a:extLst>
              </a:tr>
              <a:tr h="4226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Kavery</a:t>
                      </a:r>
                      <a:r>
                        <a:rPr lang="en-IN" sz="1900" b="0" dirty="0">
                          <a:latin typeface="Times New Roman" pitchFamily="18" charset="0"/>
                          <a:cs typeface="Times New Roman" pitchFamily="18" charset="0"/>
                        </a:rPr>
                        <a:t> </a:t>
                      </a:r>
                      <a:r>
                        <a:rPr lang="en-IN" sz="1900" b="0" dirty="0" err="1">
                          <a:latin typeface="Times New Roman" pitchFamily="18" charset="0"/>
                          <a:cs typeface="Times New Roman" pitchFamily="18" charset="0"/>
                        </a:rPr>
                        <a:t>Eductaional</a:t>
                      </a:r>
                      <a:r>
                        <a:rPr lang="en-IN" sz="1900" b="0" baseline="0" dirty="0">
                          <a:latin typeface="Times New Roman" pitchFamily="18" charset="0"/>
                          <a:cs typeface="Times New Roman" pitchFamily="18" charset="0"/>
                        </a:rPr>
                        <a:t> Institutions – Salem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VRL Supporters - Coimbatore</a:t>
                      </a:r>
                    </a:p>
                  </a:txBody>
                  <a:tcPr marL="74295" marR="74295" anchor="ctr"/>
                </a:tc>
                <a:extLst>
                  <a:ext uri="{0D108BD9-81ED-4DB2-BD59-A6C34878D82A}">
                    <a16:rowId xmlns:a16="http://schemas.microsoft.com/office/drawing/2014/main" val="10009"/>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Asian</a:t>
                      </a:r>
                      <a:r>
                        <a:rPr lang="en-IN" sz="1900" b="0" baseline="0" dirty="0">
                          <a:latin typeface="Times New Roman" pitchFamily="18" charset="0"/>
                          <a:cs typeface="Times New Roman" pitchFamily="18" charset="0"/>
                        </a:rPr>
                        <a:t> Fabrics – </a:t>
                      </a:r>
                      <a:r>
                        <a:rPr lang="en-IN" sz="1900" b="0" baseline="0" dirty="0" err="1">
                          <a:latin typeface="Times New Roman" pitchFamily="18" charset="0"/>
                          <a:cs typeface="Times New Roman" pitchFamily="18" charset="0"/>
                        </a:rPr>
                        <a:t>Karur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Swamy</a:t>
                      </a:r>
                      <a:r>
                        <a:rPr lang="en-IN" sz="1800" b="0" dirty="0">
                          <a:latin typeface="Times New Roman" pitchFamily="18" charset="0"/>
                          <a:cs typeface="Times New Roman" pitchFamily="18" charset="0"/>
                        </a:rPr>
                        <a:t> School - Salem</a:t>
                      </a:r>
                    </a:p>
                  </a:txBody>
                  <a:tcPr marL="74295" marR="74295" anchor="ctr"/>
                </a:tc>
                <a:extLst>
                  <a:ext uri="{0D108BD9-81ED-4DB2-BD59-A6C34878D82A}">
                    <a16:rowId xmlns:a16="http://schemas.microsoft.com/office/drawing/2014/main" val="10010"/>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Kovai</a:t>
                      </a:r>
                      <a:r>
                        <a:rPr lang="en-IN" sz="1900" b="0" dirty="0">
                          <a:latin typeface="Times New Roman" pitchFamily="18" charset="0"/>
                          <a:cs typeface="Times New Roman" pitchFamily="18" charset="0"/>
                        </a:rPr>
                        <a:t> Medical </a:t>
                      </a:r>
                      <a:r>
                        <a:rPr lang="en-IN" sz="1900" b="0" dirty="0" err="1">
                          <a:latin typeface="Times New Roman" pitchFamily="18" charset="0"/>
                          <a:cs typeface="Times New Roman" pitchFamily="18" charset="0"/>
                        </a:rPr>
                        <a:t>Center</a:t>
                      </a:r>
                      <a:r>
                        <a:rPr lang="en-IN" sz="1900" b="0" baseline="0" dirty="0">
                          <a:latin typeface="Times New Roman" pitchFamily="18" charset="0"/>
                          <a:cs typeface="Times New Roman" pitchFamily="18" charset="0"/>
                        </a:rPr>
                        <a:t> Hospital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Royal Care</a:t>
                      </a:r>
                      <a:r>
                        <a:rPr lang="en-IN" sz="1800" b="0" baseline="0" dirty="0">
                          <a:latin typeface="Times New Roman" pitchFamily="18" charset="0"/>
                          <a:cs typeface="Times New Roman" pitchFamily="18" charset="0"/>
                        </a:rPr>
                        <a:t> Hospital - Coimbatore</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11"/>
                  </a:ext>
                </a:extLst>
              </a:tr>
            </a:tbl>
          </a:graphicData>
        </a:graphic>
      </p:graphicFrame>
      <p:pic>
        <p:nvPicPr>
          <p:cNvPr id="23" name="Picture 22" descr="broiler.jpg"/>
          <p:cNvPicPr>
            <a:picLocks noChangeAspect="1"/>
          </p:cNvPicPr>
          <p:nvPr/>
        </p:nvPicPr>
        <p:blipFill>
          <a:blip r:embed="rId3" cstate="print"/>
          <a:stretch>
            <a:fillRect/>
          </a:stretch>
        </p:blipFill>
        <p:spPr>
          <a:xfrm>
            <a:off x="5016381" y="2599668"/>
            <a:ext cx="592922" cy="415228"/>
          </a:xfrm>
          <a:prstGeom prst="rect">
            <a:avLst/>
          </a:prstGeom>
        </p:spPr>
      </p:pic>
      <p:pic>
        <p:nvPicPr>
          <p:cNvPr id="24" name="Picture 23" descr="broiler.jpg"/>
          <p:cNvPicPr>
            <a:picLocks noChangeAspect="1"/>
          </p:cNvPicPr>
          <p:nvPr/>
        </p:nvPicPr>
        <p:blipFill>
          <a:blip r:embed="rId3" cstate="print"/>
          <a:stretch>
            <a:fillRect/>
          </a:stretch>
        </p:blipFill>
        <p:spPr>
          <a:xfrm>
            <a:off x="11301059" y="3592327"/>
            <a:ext cx="409904" cy="415228"/>
          </a:xfrm>
          <a:prstGeom prst="rect">
            <a:avLst/>
          </a:prstGeom>
        </p:spPr>
      </p:pic>
      <p:pic>
        <p:nvPicPr>
          <p:cNvPr id="22" name="Picture 2" descr="C:\Users\HP-RTS\Desktop\I Tank Symbol\spiro.jpg"/>
          <p:cNvPicPr>
            <a:picLocks noChangeAspect="1" noChangeArrowheads="1"/>
          </p:cNvPicPr>
          <p:nvPr/>
        </p:nvPicPr>
        <p:blipFill>
          <a:blip r:embed="rId4" cstate="print"/>
          <a:srcRect/>
          <a:stretch>
            <a:fillRect/>
          </a:stretch>
        </p:blipFill>
        <p:spPr bwMode="auto">
          <a:xfrm>
            <a:off x="5016381" y="560173"/>
            <a:ext cx="646097" cy="411892"/>
          </a:xfrm>
          <a:prstGeom prst="rect">
            <a:avLst/>
          </a:prstGeom>
          <a:noFill/>
        </p:spPr>
      </p:pic>
      <p:pic>
        <p:nvPicPr>
          <p:cNvPr id="1027" name="Picture 3" descr="C:\Users\HP-RTS\Desktop\I Tank Symbol\AalayaAcademy-CBSE-Logo.png"/>
          <p:cNvPicPr>
            <a:picLocks noChangeAspect="1" noChangeArrowheads="1"/>
          </p:cNvPicPr>
          <p:nvPr/>
        </p:nvPicPr>
        <p:blipFill>
          <a:blip r:embed="rId5" cstate="print"/>
          <a:srcRect r="58945"/>
          <a:stretch>
            <a:fillRect/>
          </a:stretch>
        </p:blipFill>
        <p:spPr bwMode="auto">
          <a:xfrm>
            <a:off x="5033474" y="1054292"/>
            <a:ext cx="633834" cy="379864"/>
          </a:xfrm>
          <a:prstGeom prst="rect">
            <a:avLst/>
          </a:prstGeom>
          <a:noFill/>
        </p:spPr>
      </p:pic>
      <p:pic>
        <p:nvPicPr>
          <p:cNvPr id="1028" name="Picture 4" descr="C:\Users\HP-RTS\Desktop\I Tank Symbol\vsm weaves.jpg"/>
          <p:cNvPicPr>
            <a:picLocks noChangeAspect="1" noChangeArrowheads="1"/>
          </p:cNvPicPr>
          <p:nvPr/>
        </p:nvPicPr>
        <p:blipFill>
          <a:blip r:embed="rId6" cstate="print"/>
          <a:srcRect/>
          <a:stretch>
            <a:fillRect/>
          </a:stretch>
        </p:blipFill>
        <p:spPr bwMode="auto">
          <a:xfrm>
            <a:off x="5007836" y="1493109"/>
            <a:ext cx="650933" cy="449990"/>
          </a:xfrm>
          <a:prstGeom prst="rect">
            <a:avLst/>
          </a:prstGeom>
          <a:noFill/>
        </p:spPr>
      </p:pic>
      <p:pic>
        <p:nvPicPr>
          <p:cNvPr id="1029" name="Picture 5" descr="C:\Users\HP-RTS\Desktop\I Tank Symbol\texmo.jpg"/>
          <p:cNvPicPr>
            <a:picLocks noChangeAspect="1" noChangeArrowheads="1"/>
          </p:cNvPicPr>
          <p:nvPr/>
        </p:nvPicPr>
        <p:blipFill>
          <a:blip r:embed="rId7" cstate="print"/>
          <a:srcRect/>
          <a:stretch>
            <a:fillRect/>
          </a:stretch>
        </p:blipFill>
        <p:spPr bwMode="auto">
          <a:xfrm>
            <a:off x="5016381" y="2020329"/>
            <a:ext cx="626327" cy="451022"/>
          </a:xfrm>
          <a:prstGeom prst="rect">
            <a:avLst/>
          </a:prstGeom>
          <a:noFill/>
        </p:spPr>
      </p:pic>
      <p:pic>
        <p:nvPicPr>
          <p:cNvPr id="1030" name="Picture 6" descr="C:\Users\HP-RTS\Desktop\I Tank Symbol\jps academy.jpg"/>
          <p:cNvPicPr>
            <a:picLocks noChangeAspect="1" noChangeArrowheads="1"/>
          </p:cNvPicPr>
          <p:nvPr/>
        </p:nvPicPr>
        <p:blipFill>
          <a:blip r:embed="rId8"/>
          <a:srcRect/>
          <a:stretch>
            <a:fillRect/>
          </a:stretch>
        </p:blipFill>
        <p:spPr bwMode="auto">
          <a:xfrm>
            <a:off x="4999290" y="3129578"/>
            <a:ext cx="654055" cy="374197"/>
          </a:xfrm>
          <a:prstGeom prst="rect">
            <a:avLst/>
          </a:prstGeom>
          <a:noFill/>
        </p:spPr>
      </p:pic>
      <p:pic>
        <p:nvPicPr>
          <p:cNvPr id="1031" name="Picture 7" descr="C:\Users\HP-RTS\Desktop\I Tank Symbol\shanthi gears.png"/>
          <p:cNvPicPr>
            <a:picLocks noChangeAspect="1" noChangeArrowheads="1"/>
          </p:cNvPicPr>
          <p:nvPr/>
        </p:nvPicPr>
        <p:blipFill>
          <a:blip r:embed="rId9"/>
          <a:srcRect/>
          <a:stretch>
            <a:fillRect/>
          </a:stretch>
        </p:blipFill>
        <p:spPr bwMode="auto">
          <a:xfrm>
            <a:off x="4950941" y="3578415"/>
            <a:ext cx="699186" cy="429561"/>
          </a:xfrm>
          <a:prstGeom prst="rect">
            <a:avLst/>
          </a:prstGeom>
          <a:noFill/>
        </p:spPr>
      </p:pic>
      <p:pic>
        <p:nvPicPr>
          <p:cNvPr id="1032" name="Picture 8" descr="C:\Users\HP-RTS\Desktop\I Tank Symbol\dhiyanalinga.png"/>
          <p:cNvPicPr>
            <a:picLocks noChangeAspect="1" noChangeArrowheads="1"/>
          </p:cNvPicPr>
          <p:nvPr/>
        </p:nvPicPr>
        <p:blipFill>
          <a:blip r:embed="rId10"/>
          <a:srcRect/>
          <a:stretch>
            <a:fillRect/>
          </a:stretch>
        </p:blipFill>
        <p:spPr bwMode="auto">
          <a:xfrm>
            <a:off x="4948015" y="4067799"/>
            <a:ext cx="706617" cy="398396"/>
          </a:xfrm>
          <a:prstGeom prst="rect">
            <a:avLst/>
          </a:prstGeom>
          <a:noFill/>
        </p:spPr>
      </p:pic>
      <p:pic>
        <p:nvPicPr>
          <p:cNvPr id="1033" name="Picture 9" descr="C:\Users\HP-RTS\Desktop\I Tank Symbol\venus.png"/>
          <p:cNvPicPr>
            <a:picLocks noChangeAspect="1" noChangeArrowheads="1"/>
          </p:cNvPicPr>
          <p:nvPr/>
        </p:nvPicPr>
        <p:blipFill>
          <a:blip r:embed="rId11"/>
          <a:srcRect/>
          <a:stretch>
            <a:fillRect/>
          </a:stretch>
        </p:blipFill>
        <p:spPr bwMode="auto">
          <a:xfrm>
            <a:off x="4982198" y="4557583"/>
            <a:ext cx="646121" cy="393358"/>
          </a:xfrm>
          <a:prstGeom prst="rect">
            <a:avLst/>
          </a:prstGeom>
          <a:noFill/>
        </p:spPr>
      </p:pic>
      <p:pic>
        <p:nvPicPr>
          <p:cNvPr id="1034" name="Picture 10" descr="C:\Users\HP-RTS\Desktop\I Tank Symbol\kaveryt.png"/>
          <p:cNvPicPr>
            <a:picLocks noChangeAspect="1" noChangeArrowheads="1"/>
          </p:cNvPicPr>
          <p:nvPr/>
        </p:nvPicPr>
        <p:blipFill>
          <a:blip r:embed="rId12"/>
          <a:srcRect t="7622" b="7814"/>
          <a:stretch>
            <a:fillRect/>
          </a:stretch>
        </p:blipFill>
        <p:spPr bwMode="auto">
          <a:xfrm>
            <a:off x="4990744" y="4998160"/>
            <a:ext cx="631188" cy="397623"/>
          </a:xfrm>
          <a:prstGeom prst="rect">
            <a:avLst/>
          </a:prstGeom>
          <a:noFill/>
        </p:spPr>
      </p:pic>
      <p:pic>
        <p:nvPicPr>
          <p:cNvPr id="1035" name="Picture 11" descr="C:\Users\HP-RTS\Desktop\I Tank Symbol\asian fabrics.png"/>
          <p:cNvPicPr>
            <a:picLocks noChangeAspect="1" noChangeArrowheads="1"/>
          </p:cNvPicPr>
          <p:nvPr/>
        </p:nvPicPr>
        <p:blipFill>
          <a:blip r:embed="rId13"/>
          <a:srcRect/>
          <a:stretch>
            <a:fillRect/>
          </a:stretch>
        </p:blipFill>
        <p:spPr bwMode="auto">
          <a:xfrm>
            <a:off x="4973652" y="5519352"/>
            <a:ext cx="684070" cy="360278"/>
          </a:xfrm>
          <a:prstGeom prst="rect">
            <a:avLst/>
          </a:prstGeom>
          <a:noFill/>
        </p:spPr>
      </p:pic>
      <p:pic>
        <p:nvPicPr>
          <p:cNvPr id="1036" name="Picture 12" descr="C:\Users\HP-RTS\Desktop\I Tank Symbol\kmch.png"/>
          <p:cNvPicPr>
            <a:picLocks noChangeAspect="1" noChangeArrowheads="1"/>
          </p:cNvPicPr>
          <p:nvPr/>
        </p:nvPicPr>
        <p:blipFill>
          <a:blip r:embed="rId14"/>
          <a:srcRect/>
          <a:stretch>
            <a:fillRect/>
          </a:stretch>
        </p:blipFill>
        <p:spPr bwMode="auto">
          <a:xfrm>
            <a:off x="4956561" y="5992844"/>
            <a:ext cx="681854" cy="479909"/>
          </a:xfrm>
          <a:prstGeom prst="rect">
            <a:avLst/>
          </a:prstGeom>
          <a:noFill/>
        </p:spPr>
      </p:pic>
      <p:pic>
        <p:nvPicPr>
          <p:cNvPr id="1037" name="Picture 13" descr="C:\Users\HP-RTS\Desktop\I Tank Symbol\apex.jpg"/>
          <p:cNvPicPr>
            <a:picLocks noChangeAspect="1" noChangeArrowheads="1"/>
          </p:cNvPicPr>
          <p:nvPr/>
        </p:nvPicPr>
        <p:blipFill>
          <a:blip r:embed="rId15"/>
          <a:srcRect/>
          <a:stretch>
            <a:fillRect/>
          </a:stretch>
        </p:blipFill>
        <p:spPr bwMode="auto">
          <a:xfrm>
            <a:off x="10827522" y="576648"/>
            <a:ext cx="924830" cy="373921"/>
          </a:xfrm>
          <a:prstGeom prst="rect">
            <a:avLst/>
          </a:prstGeom>
          <a:noFill/>
        </p:spPr>
      </p:pic>
      <p:pic>
        <p:nvPicPr>
          <p:cNvPr id="1038" name="Picture 14" descr="C:\Users\HP-RTS\Desktop\I Tank Symbol\devaraja agro.jpg"/>
          <p:cNvPicPr>
            <a:picLocks noChangeAspect="1" noChangeArrowheads="1"/>
          </p:cNvPicPr>
          <p:nvPr/>
        </p:nvPicPr>
        <p:blipFill>
          <a:blip r:embed="rId16"/>
          <a:srcRect/>
          <a:stretch>
            <a:fillRect/>
          </a:stretch>
        </p:blipFill>
        <p:spPr bwMode="auto">
          <a:xfrm>
            <a:off x="10810937" y="1029730"/>
            <a:ext cx="956374" cy="404298"/>
          </a:xfrm>
          <a:prstGeom prst="rect">
            <a:avLst/>
          </a:prstGeom>
          <a:noFill/>
        </p:spPr>
      </p:pic>
      <p:pic>
        <p:nvPicPr>
          <p:cNvPr id="39" name="Picture 12" descr="C:\Users\HP-RTS\Desktop\I TANK\Customer Lists\kongu mahal.jpg"/>
          <p:cNvPicPr>
            <a:picLocks noChangeAspect="1" noChangeArrowheads="1"/>
          </p:cNvPicPr>
          <p:nvPr/>
        </p:nvPicPr>
        <p:blipFill>
          <a:blip r:embed="rId17"/>
          <a:srcRect/>
          <a:stretch>
            <a:fillRect/>
          </a:stretch>
        </p:blipFill>
        <p:spPr bwMode="auto">
          <a:xfrm>
            <a:off x="10878795" y="3113901"/>
            <a:ext cx="870293" cy="401261"/>
          </a:xfrm>
          <a:prstGeom prst="rect">
            <a:avLst/>
          </a:prstGeom>
          <a:noFill/>
        </p:spPr>
      </p:pic>
      <p:pic>
        <p:nvPicPr>
          <p:cNvPr id="40" name="Picture 39" descr="download.jpg"/>
          <p:cNvPicPr>
            <a:picLocks noChangeAspect="1"/>
          </p:cNvPicPr>
          <p:nvPr/>
        </p:nvPicPr>
        <p:blipFill>
          <a:blip r:embed="rId18"/>
          <a:stretch>
            <a:fillRect/>
          </a:stretch>
        </p:blipFill>
        <p:spPr>
          <a:xfrm>
            <a:off x="10827522" y="1506510"/>
            <a:ext cx="899036" cy="461344"/>
          </a:xfrm>
          <a:prstGeom prst="rect">
            <a:avLst/>
          </a:prstGeom>
        </p:spPr>
      </p:pic>
      <p:pic>
        <p:nvPicPr>
          <p:cNvPr id="1040" name="Picture 16" descr="C:\Users\HP-RTS\Desktop\I Tank Symbol\jai ram college.png"/>
          <p:cNvPicPr>
            <a:picLocks noChangeAspect="1" noChangeArrowheads="1"/>
          </p:cNvPicPr>
          <p:nvPr/>
        </p:nvPicPr>
        <p:blipFill>
          <a:blip r:embed="rId19"/>
          <a:srcRect/>
          <a:stretch>
            <a:fillRect/>
          </a:stretch>
        </p:blipFill>
        <p:spPr bwMode="auto">
          <a:xfrm>
            <a:off x="10853159" y="2569895"/>
            <a:ext cx="897427" cy="420645"/>
          </a:xfrm>
          <a:prstGeom prst="rect">
            <a:avLst/>
          </a:prstGeom>
          <a:noFill/>
        </p:spPr>
      </p:pic>
      <p:pic>
        <p:nvPicPr>
          <p:cNvPr id="1041" name="Picture 17" descr="C:\Users\HP-RTS\Desktop\I Tank Symbol\leyercaud.jpg"/>
          <p:cNvPicPr>
            <a:picLocks noChangeAspect="1" noChangeArrowheads="1"/>
          </p:cNvPicPr>
          <p:nvPr/>
        </p:nvPicPr>
        <p:blipFill>
          <a:blip r:embed="rId20"/>
          <a:srcRect/>
          <a:stretch>
            <a:fillRect/>
          </a:stretch>
        </p:blipFill>
        <p:spPr bwMode="auto">
          <a:xfrm>
            <a:off x="10827521" y="4071440"/>
            <a:ext cx="931266" cy="430784"/>
          </a:xfrm>
          <a:prstGeom prst="rect">
            <a:avLst/>
          </a:prstGeom>
          <a:noFill/>
        </p:spPr>
      </p:pic>
      <p:pic>
        <p:nvPicPr>
          <p:cNvPr id="1042" name="Picture 18" descr="C:\Users\HP-RTS\Desktop\I Tank Symbol\vsr.png"/>
          <p:cNvPicPr>
            <a:picLocks noChangeAspect="1" noChangeArrowheads="1"/>
          </p:cNvPicPr>
          <p:nvPr/>
        </p:nvPicPr>
        <p:blipFill>
          <a:blip r:embed="rId21"/>
          <a:srcRect/>
          <a:stretch>
            <a:fillRect/>
          </a:stretch>
        </p:blipFill>
        <p:spPr bwMode="auto">
          <a:xfrm>
            <a:off x="10870250" y="4582297"/>
            <a:ext cx="877773" cy="359118"/>
          </a:xfrm>
          <a:prstGeom prst="rect">
            <a:avLst/>
          </a:prstGeom>
          <a:noFill/>
        </p:spPr>
      </p:pic>
      <p:pic>
        <p:nvPicPr>
          <p:cNvPr id="1043" name="Picture 19" descr="C:\Users\HP-RTS\Desktop\I Tank Symbol\vrl.png"/>
          <p:cNvPicPr>
            <a:picLocks noChangeAspect="1" noChangeArrowheads="1"/>
          </p:cNvPicPr>
          <p:nvPr/>
        </p:nvPicPr>
        <p:blipFill>
          <a:blip r:embed="rId22"/>
          <a:srcRect/>
          <a:stretch>
            <a:fillRect/>
          </a:stretch>
        </p:blipFill>
        <p:spPr bwMode="auto">
          <a:xfrm>
            <a:off x="10878796" y="5040631"/>
            <a:ext cx="871940" cy="360309"/>
          </a:xfrm>
          <a:prstGeom prst="rect">
            <a:avLst/>
          </a:prstGeom>
          <a:noFill/>
        </p:spPr>
      </p:pic>
      <p:pic>
        <p:nvPicPr>
          <p:cNvPr id="1044" name="Picture 20" descr="C:\Users\HP-RTS\Desktop\I Tank Symbol\swamy school.jpg"/>
          <p:cNvPicPr>
            <a:picLocks noChangeAspect="1" noChangeArrowheads="1"/>
          </p:cNvPicPr>
          <p:nvPr/>
        </p:nvPicPr>
        <p:blipFill>
          <a:blip r:embed="rId23"/>
          <a:srcRect/>
          <a:stretch>
            <a:fillRect/>
          </a:stretch>
        </p:blipFill>
        <p:spPr bwMode="auto">
          <a:xfrm>
            <a:off x="11198572" y="5461069"/>
            <a:ext cx="538974" cy="440209"/>
          </a:xfrm>
          <a:prstGeom prst="rect">
            <a:avLst/>
          </a:prstGeom>
          <a:noFill/>
        </p:spPr>
      </p:pic>
      <p:sp>
        <p:nvSpPr>
          <p:cNvPr id="46" name="Title 1">
            <a:extLst>
              <a:ext uri="{FF2B5EF4-FFF2-40B4-BE49-F238E27FC236}">
                <a16:creationId xmlns:a16="http://schemas.microsoft.com/office/drawing/2014/main" id="{3E59A521-324B-43FE-BCFD-E12526C8A28A}"/>
              </a:ext>
            </a:extLst>
          </p:cNvPr>
          <p:cNvSpPr txBox="1">
            <a:spLocks/>
          </p:cNvSpPr>
          <p:nvPr/>
        </p:nvSpPr>
        <p:spPr>
          <a:xfrm>
            <a:off x="2201354" y="-39447"/>
            <a:ext cx="77216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7" name="Picture 15" descr="C:\Users\HP-RTS\Desktop\I Tank Symbol\royal care.jpg"/>
          <p:cNvPicPr>
            <a:picLocks noChangeAspect="1" noChangeArrowheads="1"/>
          </p:cNvPicPr>
          <p:nvPr/>
        </p:nvPicPr>
        <p:blipFill>
          <a:blip r:embed="rId24"/>
          <a:srcRect/>
          <a:stretch>
            <a:fillRect/>
          </a:stretch>
        </p:blipFill>
        <p:spPr bwMode="auto">
          <a:xfrm>
            <a:off x="10861705" y="5998846"/>
            <a:ext cx="894896" cy="461774"/>
          </a:xfrm>
          <a:prstGeom prst="rect">
            <a:avLst/>
          </a:prstGeom>
          <a:noFill/>
        </p:spPr>
      </p:pic>
      <p:pic>
        <p:nvPicPr>
          <p:cNvPr id="1026" name="Picture 2"/>
          <p:cNvPicPr>
            <a:picLocks noChangeAspect="1" noChangeArrowheads="1"/>
          </p:cNvPicPr>
          <p:nvPr/>
        </p:nvPicPr>
        <p:blipFill rotWithShape="1">
          <a:blip r:embed="rId25">
            <a:extLst>
              <a:ext uri="{28A0092B-C50C-407E-A947-70E740481C1C}">
                <a14:useLocalDpi xmlns:a14="http://schemas.microsoft.com/office/drawing/2010/main" val="0"/>
              </a:ext>
            </a:extLst>
          </a:blip>
          <a:srcRect l="18371" t="12000" r="17908" b="9500"/>
          <a:stretch/>
        </p:blipFill>
        <p:spPr bwMode="auto">
          <a:xfrm>
            <a:off x="11137211" y="1994491"/>
            <a:ext cx="601167" cy="48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descr="C:\Users\HP-RTS\Downloads\WhatsApp Image 2023-08-11 at 1.36.26 PM.png"/>
          <p:cNvPicPr>
            <a:picLocks noChangeAspect="1" noChangeArrowheads="1"/>
          </p:cNvPicPr>
          <p:nvPr/>
        </p:nvPicPr>
        <p:blipFill>
          <a:blip r:embed="rId26"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330414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4189024983"/>
              </p:ext>
            </p:extLst>
          </p:nvPr>
        </p:nvGraphicFramePr>
        <p:xfrm>
          <a:off x="209359" y="588285"/>
          <a:ext cx="11784933" cy="5930311"/>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latin typeface="Times New Roman" pitchFamily="18" charset="0"/>
                          <a:cs typeface="Times New Roman" pitchFamily="18" charset="0"/>
                        </a:rPr>
                        <a:t>Mettupalayam</a:t>
                      </a:r>
                      <a:r>
                        <a:rPr lang="en-US" sz="2200" baseline="0" dirty="0">
                          <a:latin typeface="Times New Roman" pitchFamily="18" charset="0"/>
                          <a:cs typeface="Times New Roman" pitchFamily="18" charset="0"/>
                        </a:rPr>
                        <a:t> Municipality - Coimbatore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Sathyamangalam</a:t>
                      </a:r>
                      <a:r>
                        <a:rPr lang="en-IN" sz="2200" dirty="0">
                          <a:latin typeface="Times New Roman" pitchFamily="18" charset="0"/>
                          <a:cs typeface="Times New Roman" pitchFamily="18" charset="0"/>
                        </a:rPr>
                        <a:t> Municipality – Erode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Erode Corporation - Erode </a:t>
                      </a: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Bhavani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Municicpality</a:t>
                      </a:r>
                      <a:r>
                        <a:rPr lang="en-IN" sz="2200" dirty="0">
                          <a:latin typeface="Times New Roman" pitchFamily="18" charset="0"/>
                          <a:cs typeface="Times New Roman" pitchFamily="18" charset="0"/>
                        </a:rPr>
                        <a:t>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Tirupur</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Gobichettipalayam</a:t>
                      </a:r>
                      <a:r>
                        <a:rPr lang="en-IN" sz="2200" dirty="0">
                          <a:latin typeface="Times New Roman" pitchFamily="18" charset="0"/>
                          <a:cs typeface="Times New Roman" pitchFamily="18" charset="0"/>
                        </a:rPr>
                        <a:t> Municipality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Kumaravalasu</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Panchayat-Chennimalai</a:t>
                      </a:r>
                      <a:r>
                        <a:rPr lang="en-IN" sz="2200" baseline="0" dirty="0">
                          <a:latin typeface="Times New Roman" pitchFamily="18" charset="0"/>
                          <a:cs typeface="Times New Roman" pitchFamily="18" charset="0"/>
                        </a:rPr>
                        <a:t> Union, </a:t>
                      </a:r>
                      <a:r>
                        <a:rPr lang="en-IN" sz="2200" baseline="0" dirty="0" err="1">
                          <a:latin typeface="Times New Roman" pitchFamily="18" charset="0"/>
                          <a:cs typeface="Times New Roman" pitchFamily="18" charset="0"/>
                        </a:rPr>
                        <a:t>Erd</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err="1">
                          <a:latin typeface="Times New Roman" pitchFamily="18" charset="0"/>
                          <a:cs typeface="Times New Roman" pitchFamily="18" charset="0"/>
                        </a:rPr>
                        <a:t>Arcot</a:t>
                      </a:r>
                      <a:r>
                        <a:rPr lang="en-IN" sz="2200" dirty="0">
                          <a:latin typeface="Times New Roman" pitchFamily="18" charset="0"/>
                          <a:cs typeface="Times New Roman" pitchFamily="18" charset="0"/>
                        </a:rPr>
                        <a:t> Municipality</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Ranipet</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Thirumalaigiri</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Salem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err="1">
                          <a:latin typeface="Times New Roman" pitchFamily="18" charset="0"/>
                          <a:cs typeface="Times New Roman" pitchFamily="18" charset="0"/>
                        </a:rPr>
                        <a:t>Kodaikanal</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Dindugal</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Vadakuthu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Cuddalore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err="1">
                          <a:latin typeface="Times New Roman" pitchFamily="18" charset="0"/>
                          <a:cs typeface="Times New Roman" pitchFamily="18" charset="0"/>
                        </a:rPr>
                        <a:t>Narasingapuram</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Salem</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Mangal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Thiruvanamalai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err="1">
                          <a:latin typeface="Times New Roman" pitchFamily="18" charset="0"/>
                          <a:cs typeface="Times New Roman" pitchFamily="18" charset="0"/>
                        </a:rPr>
                        <a:t>Musiri</a:t>
                      </a:r>
                      <a:r>
                        <a:rPr lang="en-IN" sz="2200" b="0" baseline="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Trichy</a:t>
                      </a:r>
                      <a:endParaRPr lang="en-IN" sz="22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Ponmudi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err="1">
                          <a:latin typeface="Times New Roman" pitchFamily="18" charset="0"/>
                          <a:cs typeface="Times New Roman" pitchFamily="18" charset="0"/>
                        </a:rPr>
                        <a:t>Udamalapet</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Thiruvachi</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Puliyampatti</a:t>
                      </a:r>
                      <a:r>
                        <a:rPr lang="en-IN" sz="2200" baseline="0" dirty="0">
                          <a:latin typeface="Times New Roman" pitchFamily="18" charset="0"/>
                          <a:cs typeface="Times New Roman" pitchFamily="18" charset="0"/>
                        </a:rPr>
                        <a:t> Municipality - Erode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Mullampatti</a:t>
                      </a:r>
                      <a:r>
                        <a:rPr lang="en-IN" sz="2200" baseline="0" dirty="0">
                          <a:latin typeface="Times New Roman" pitchFamily="18" charset="0"/>
                          <a:cs typeface="Times New Roman" pitchFamily="18" charset="0"/>
                        </a:rPr>
                        <a:t> </a:t>
                      </a:r>
                      <a:r>
                        <a:rPr lang="en-IN" sz="2200" dirty="0">
                          <a:latin typeface="Times New Roman" pitchFamily="18" charset="0"/>
                          <a:cs typeface="Times New Roman" pitchFamily="18" charset="0"/>
                        </a:rPr>
                        <a:t>Panchayat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752618" y="19822"/>
            <a:ext cx="86614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  </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1643" y="1301406"/>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57521" y="1944129"/>
            <a:ext cx="477888" cy="494292"/>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512386"/>
            <a:ext cx="477888" cy="523287"/>
          </a:xfrm>
          <a:prstGeom prst="rect">
            <a:avLst/>
          </a:prstGeom>
          <a:noFill/>
        </p:spPr>
      </p:pic>
      <p:pic>
        <p:nvPicPr>
          <p:cNvPr id="3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3991" y="3126114"/>
            <a:ext cx="477888" cy="523287"/>
          </a:xfrm>
          <a:prstGeom prst="rect">
            <a:avLst/>
          </a:prstGeom>
          <a:noFill/>
        </p:spPr>
      </p:pic>
      <p:pic>
        <p:nvPicPr>
          <p:cNvPr id="34"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8107" y="3731740"/>
            <a:ext cx="477888" cy="465485"/>
          </a:xfrm>
          <a:prstGeom prst="rect">
            <a:avLst/>
          </a:prstGeom>
          <a:noFill/>
        </p:spPr>
      </p:pic>
      <p:pic>
        <p:nvPicPr>
          <p:cNvPr id="3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2223" y="4287666"/>
            <a:ext cx="477888" cy="523287"/>
          </a:xfrm>
          <a:prstGeom prst="rect">
            <a:avLst/>
          </a:prstGeom>
          <a:noFill/>
        </p:spPr>
      </p:pic>
      <p:pic>
        <p:nvPicPr>
          <p:cNvPr id="36"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5086339" y="4868561"/>
            <a:ext cx="477888" cy="440787"/>
          </a:xfrm>
          <a:prstGeom prst="rect">
            <a:avLst/>
          </a:prstGeom>
          <a:noFill/>
        </p:spPr>
      </p:pic>
      <p:pic>
        <p:nvPicPr>
          <p:cNvPr id="37"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5111053" y="5354593"/>
            <a:ext cx="433012" cy="449035"/>
          </a:xfrm>
          <a:prstGeom prst="rect">
            <a:avLst/>
          </a:prstGeom>
          <a:noFill/>
        </p:spPr>
      </p:pic>
      <p:pic>
        <p:nvPicPr>
          <p:cNvPr id="3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102815" y="5898192"/>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3727" y="63825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7843" y="1301406"/>
            <a:ext cx="477888" cy="523287"/>
          </a:xfrm>
          <a:prstGeom prst="rect">
            <a:avLst/>
          </a:prstGeom>
          <a:noFill/>
        </p:spPr>
      </p:pic>
      <p:pic>
        <p:nvPicPr>
          <p:cNvPr id="28"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11483721" y="1944129"/>
            <a:ext cx="477888" cy="494292"/>
          </a:xfrm>
          <a:prstGeom prst="rect">
            <a:avLst/>
          </a:prstGeom>
          <a:noFill/>
        </p:spPr>
      </p:pic>
      <p:pic>
        <p:nvPicPr>
          <p:cNvPr id="2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96075" y="2512386"/>
            <a:ext cx="477888" cy="523287"/>
          </a:xfrm>
          <a:prstGeom prst="rect">
            <a:avLst/>
          </a:prstGeom>
          <a:noFill/>
        </p:spPr>
      </p:pic>
      <p:pic>
        <p:nvPicPr>
          <p:cNvPr id="3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0191" y="3126114"/>
            <a:ext cx="477888" cy="523287"/>
          </a:xfrm>
          <a:prstGeom prst="rect">
            <a:avLst/>
          </a:prstGeom>
          <a:noFill/>
        </p:spPr>
      </p:pic>
      <p:pic>
        <p:nvPicPr>
          <p:cNvPr id="49"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504307" y="3731740"/>
            <a:ext cx="477888" cy="465485"/>
          </a:xfrm>
          <a:prstGeom prst="rect">
            <a:avLst/>
          </a:prstGeom>
          <a:noFill/>
        </p:spPr>
      </p:pic>
      <p:pic>
        <p:nvPicPr>
          <p:cNvPr id="5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8423" y="4287666"/>
            <a:ext cx="477888" cy="523287"/>
          </a:xfrm>
          <a:prstGeom prst="rect">
            <a:avLst/>
          </a:prstGeom>
          <a:noFill/>
        </p:spPr>
      </p:pic>
      <p:pic>
        <p:nvPicPr>
          <p:cNvPr id="52"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11512539" y="4868561"/>
            <a:ext cx="477888" cy="440787"/>
          </a:xfrm>
          <a:prstGeom prst="rect">
            <a:avLst/>
          </a:prstGeom>
          <a:noFill/>
        </p:spPr>
      </p:pic>
      <p:pic>
        <p:nvPicPr>
          <p:cNvPr id="53"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11537253" y="5354593"/>
            <a:ext cx="433012" cy="449035"/>
          </a:xfrm>
          <a:prstGeom prst="rect">
            <a:avLst/>
          </a:prstGeom>
          <a:noFill/>
        </p:spPr>
      </p:pic>
      <p:pic>
        <p:nvPicPr>
          <p:cNvPr id="5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29015" y="5898192"/>
            <a:ext cx="477888" cy="523287"/>
          </a:xfrm>
          <a:prstGeom prst="rect">
            <a:avLst/>
          </a:prstGeom>
          <a:noFill/>
        </p:spPr>
      </p:pic>
    </p:spTree>
    <p:extLst>
      <p:ext uri="{BB962C8B-B14F-4D97-AF65-F5344CB8AC3E}">
        <p14:creationId xmlns:p14="http://schemas.microsoft.com/office/powerpoint/2010/main" val="3478499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821272616"/>
              </p:ext>
            </p:extLst>
          </p:nvPr>
        </p:nvGraphicFramePr>
        <p:xfrm>
          <a:off x="237934" y="523516"/>
          <a:ext cx="11784933" cy="5980154"/>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592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aseline="0" dirty="0" err="1">
                          <a:latin typeface="Times New Roman" pitchFamily="18" charset="0"/>
                          <a:cs typeface="Times New Roman" pitchFamily="18" charset="0"/>
                        </a:rPr>
                        <a:t>Devakottai</a:t>
                      </a:r>
                      <a:r>
                        <a:rPr lang="en-US" sz="2200" baseline="0" dirty="0">
                          <a:latin typeface="Times New Roman" pitchFamily="18" charset="0"/>
                          <a:cs typeface="Times New Roman" pitchFamily="18" charset="0"/>
                        </a:rPr>
                        <a:t> Municipality - </a:t>
                      </a:r>
                      <a:r>
                        <a:rPr kumimoji="0" lang="en-IN" sz="2400" b="0" i="0" kern="1200" dirty="0" err="1">
                          <a:solidFill>
                            <a:schemeClr val="dk1"/>
                          </a:solidFill>
                          <a:effectLst/>
                          <a:latin typeface="Times New Roman" pitchFamily="18" charset="0"/>
                          <a:ea typeface="+mn-ea"/>
                          <a:cs typeface="Times New Roman" pitchFamily="18" charset="0"/>
                        </a:rPr>
                        <a:t>Sivaganga</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a:latin typeface="Times New Roman" pitchFamily="18" charset="0"/>
                          <a:cs typeface="Times New Roman" pitchFamily="18" charset="0"/>
                        </a:rPr>
                        <a:t>Madurai Corporation - Madurai</a:t>
                      </a:r>
                    </a:p>
                  </a:txBody>
                  <a:tcPr marL="74295" marR="74295" anchor="ctr"/>
                </a:tc>
                <a:extLst>
                  <a:ext uri="{0D108BD9-81ED-4DB2-BD59-A6C34878D82A}">
                    <a16:rowId xmlns:a16="http://schemas.microsoft.com/office/drawing/2014/main" val="4208521853"/>
                  </a:ext>
                </a:extLst>
              </a:tr>
              <a:tr h="7544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Kuttapalayam</a:t>
                      </a:r>
                      <a:r>
                        <a:rPr lang="en-IN" sz="2200" baseline="0" dirty="0">
                          <a:latin typeface="Times New Roman" pitchFamily="18" charset="0"/>
                          <a:cs typeface="Times New Roman" pitchFamily="18" charset="0"/>
                        </a:rPr>
                        <a:t> Panchayat-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200" baseline="0" dirty="0" err="1">
                          <a:latin typeface="Times New Roman" pitchFamily="18" charset="0"/>
                          <a:cs typeface="Times New Roman" pitchFamily="18" charset="0"/>
                        </a:rPr>
                        <a:t>Chennimalai</a:t>
                      </a:r>
                      <a:r>
                        <a:rPr lang="en-IN" sz="2200" baseline="0" dirty="0">
                          <a:latin typeface="Times New Roman" pitchFamily="18" charset="0"/>
                          <a:cs typeface="Times New Roman" pitchFamily="18" charset="0"/>
                        </a:rPr>
                        <a:t> Union, Erode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Devanakuruchi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7544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Mooperi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Palayam</a:t>
                      </a:r>
                      <a:r>
                        <a:rPr lang="en-IN" sz="2200" dirty="0">
                          <a:latin typeface="Times New Roman" pitchFamily="18" charset="0"/>
                          <a:cs typeface="Times New Roman" pitchFamily="18" charset="0"/>
                        </a:rPr>
                        <a:t> Town Panchayat-</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Gajjal</a:t>
                      </a:r>
                      <a:r>
                        <a:rPr lang="en-US" sz="2200" baseline="0" dirty="0" err="1">
                          <a:latin typeface="Times New Roman" pitchFamily="18" charset="0"/>
                          <a:cs typeface="Times New Roman" pitchFamily="18" charset="0"/>
                        </a:rPr>
                        <a:t>nayakkanpatti</a:t>
                      </a:r>
                      <a:r>
                        <a:rPr lang="en-US" sz="2200" baseline="0" dirty="0">
                          <a:latin typeface="Times New Roman" pitchFamily="18" charset="0"/>
                          <a:cs typeface="Times New Roman" pitchFamily="18" charset="0"/>
                        </a:rPr>
                        <a:t> </a:t>
                      </a:r>
                      <a:r>
                        <a:rPr lang="en-US" sz="2200" baseline="0" dirty="0" err="1">
                          <a:latin typeface="Times New Roman" pitchFamily="18" charset="0"/>
                          <a:cs typeface="Times New Roman" pitchFamily="18" charset="0"/>
                        </a:rPr>
                        <a:t>Panchayat</a:t>
                      </a:r>
                      <a:r>
                        <a:rPr lang="en-US" sz="2200" baseline="0" dirty="0">
                          <a:latin typeface="Times New Roman" pitchFamily="18" charset="0"/>
                          <a:cs typeface="Times New Roman" pitchFamily="18" charset="0"/>
                        </a:rPr>
                        <a:t> - </a:t>
                      </a:r>
                      <a:r>
                        <a:rPr lang="en-US" sz="2200" baseline="0" dirty="0" err="1">
                          <a:latin typeface="Times New Roman" pitchFamily="18" charset="0"/>
                          <a:cs typeface="Times New Roman" pitchFamily="18" charset="0"/>
                        </a:rPr>
                        <a:t>Kallakuruchi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33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Pugalur</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Municipality-</a:t>
                      </a: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Karur</a:t>
                      </a: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Lakkampatti</a:t>
                      </a:r>
                      <a:r>
                        <a:rPr lang="en-IN" sz="2200" dirty="0">
                          <a:latin typeface="Times New Roman" pitchFamily="18" charset="0"/>
                          <a:cs typeface="Times New Roman" pitchFamily="18" charset="0"/>
                        </a:rPr>
                        <a:t> Town</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Gobi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90924">
                <a:tc>
                  <a:txBody>
                    <a:bodyPr/>
                    <a:lstStyle/>
                    <a:p>
                      <a:pPr algn="l"/>
                      <a:r>
                        <a:rPr lang="en-US" sz="2200" dirty="0" err="1">
                          <a:latin typeface="Times New Roman" pitchFamily="18" charset="0"/>
                          <a:cs typeface="Times New Roman" pitchFamily="18" charset="0"/>
                        </a:rPr>
                        <a:t>Pattukottai</a:t>
                      </a:r>
                      <a:r>
                        <a:rPr lang="en-US" sz="2200" baseline="0" dirty="0">
                          <a:latin typeface="Times New Roman" pitchFamily="18" charset="0"/>
                          <a:cs typeface="Times New Roman" pitchFamily="18" charset="0"/>
                        </a:rPr>
                        <a:t> Municipality-</a:t>
                      </a:r>
                      <a:r>
                        <a:rPr lang="en-US" sz="2200" baseline="0" dirty="0" err="1">
                          <a:latin typeface="Times New Roman" pitchFamily="18" charset="0"/>
                          <a:cs typeface="Times New Roman" pitchFamily="18" charset="0"/>
                        </a:rPr>
                        <a:t>Thanjavur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Kunnavakkam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08319">
                <a:tc>
                  <a:txBody>
                    <a:bodyPr/>
                    <a:lstStyle/>
                    <a:p>
                      <a:pPr algn="l"/>
                      <a:r>
                        <a:rPr lang="en-US" sz="2200" dirty="0" err="1">
                          <a:latin typeface="Times New Roman" pitchFamily="18" charset="0"/>
                          <a:cs typeface="Times New Roman" pitchFamily="18" charset="0"/>
                        </a:rPr>
                        <a:t>Srivilliputhur</a:t>
                      </a:r>
                      <a:r>
                        <a:rPr lang="en-US" sz="2200" dirty="0">
                          <a:latin typeface="Times New Roman" pitchFamily="18" charset="0"/>
                          <a:cs typeface="Times New Roman" pitchFamily="18" charset="0"/>
                        </a:rPr>
                        <a:t> Municipality-</a:t>
                      </a:r>
                      <a:r>
                        <a:rPr lang="en-US" sz="2200" dirty="0" err="1">
                          <a:latin typeface="Times New Roman" pitchFamily="18" charset="0"/>
                          <a:cs typeface="Times New Roman" pitchFamily="18" charset="0"/>
                        </a:rPr>
                        <a:t>Viruthunagar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Veerapuram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90924">
                <a:tc>
                  <a:txBody>
                    <a:bodyPr/>
                    <a:lstStyle/>
                    <a:p>
                      <a:pPr algn="l"/>
                      <a:r>
                        <a:rPr lang="en-US" sz="2200" b="0" dirty="0" err="1">
                          <a:solidFill>
                            <a:schemeClr val="tx1"/>
                          </a:solidFill>
                          <a:latin typeface="Times New Roman" pitchFamily="18" charset="0"/>
                          <a:cs typeface="Times New Roman" pitchFamily="18" charset="0"/>
                        </a:rPr>
                        <a:t>Pallapatti</a:t>
                      </a:r>
                      <a:r>
                        <a:rPr lang="en-US" sz="2200" b="0" baseline="0" dirty="0">
                          <a:solidFill>
                            <a:schemeClr val="tx1"/>
                          </a:solidFill>
                          <a:latin typeface="Times New Roman" pitchFamily="18" charset="0"/>
                          <a:cs typeface="Times New Roman" pitchFamily="18" charset="0"/>
                        </a:rPr>
                        <a:t> Municipality - </a:t>
                      </a:r>
                      <a:r>
                        <a:rPr lang="en-US" sz="2200" b="0" baseline="0" dirty="0" err="1">
                          <a:solidFill>
                            <a:schemeClr val="tx1"/>
                          </a:solidFill>
                          <a:latin typeface="Times New Roman" pitchFamily="18" charset="0"/>
                          <a:cs typeface="Times New Roman" pitchFamily="18" charset="0"/>
                        </a:rPr>
                        <a:t>Karur</a:t>
                      </a:r>
                      <a:endParaRPr lang="en-IN" sz="2200" b="0" dirty="0">
                        <a:solidFill>
                          <a:schemeClr val="tx1"/>
                        </a:solidFill>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Tambaram</a:t>
                      </a:r>
                      <a:r>
                        <a:rPr lang="en-IN" sz="2200" baseline="0" dirty="0">
                          <a:latin typeface="Times New Roman" pitchFamily="18" charset="0"/>
                          <a:cs typeface="Times New Roman" pitchFamily="18" charset="0"/>
                        </a:rPr>
                        <a:t> Corporation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56773">
                <a:tc>
                  <a:txBody>
                    <a:bodyPr/>
                    <a:lstStyle/>
                    <a:p>
                      <a:pPr algn="l"/>
                      <a:r>
                        <a:rPr lang="en-US" sz="2000" b="0" dirty="0" err="1">
                          <a:latin typeface="Times New Roman" pitchFamily="18" charset="0"/>
                          <a:cs typeface="Times New Roman" pitchFamily="18" charset="0"/>
                        </a:rPr>
                        <a:t>Perambalur</a:t>
                      </a:r>
                      <a:r>
                        <a:rPr lang="en-US" sz="2000" b="0" baseline="0" dirty="0">
                          <a:latin typeface="Times New Roman" pitchFamily="18" charset="0"/>
                          <a:cs typeface="Times New Roman" pitchFamily="18" charset="0"/>
                        </a:rPr>
                        <a:t> Municipality - </a:t>
                      </a:r>
                      <a:r>
                        <a:rPr lang="en-US" sz="2000" b="0" baseline="0" dirty="0" err="1">
                          <a:latin typeface="Times New Roman" pitchFamily="18" charset="0"/>
                          <a:cs typeface="Times New Roman" pitchFamily="18" charset="0"/>
                        </a:rPr>
                        <a:t>Perambalur</a:t>
                      </a:r>
                      <a:endParaRPr lang="en-IN" sz="20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Muthalipalayam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Coimbatore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65648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Coimbatore</a:t>
                      </a:r>
                      <a:r>
                        <a:rPr lang="en-IN" sz="2000" baseline="0" dirty="0">
                          <a:latin typeface="Times New Roman" pitchFamily="18" charset="0"/>
                          <a:cs typeface="Times New Roman" pitchFamily="18" charset="0"/>
                        </a:rPr>
                        <a:t> Corporation - Coimbatore</a:t>
                      </a:r>
                      <a:endParaRPr lang="en-IN" sz="20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Gudalur</a:t>
                      </a:r>
                      <a:r>
                        <a:rPr lang="en-IN" sz="2200" dirty="0">
                          <a:latin typeface="Times New Roman" pitchFamily="18" charset="0"/>
                          <a:cs typeface="Times New Roman" pitchFamily="18" charset="0"/>
                        </a:rPr>
                        <a:t> Municipality - Coimbatore</a:t>
                      </a:r>
                    </a:p>
                  </a:txBody>
                  <a:tcPr marL="74295" marR="74295" anchor="ctr"/>
                </a:tc>
                <a:extLst>
                  <a:ext uri="{0D108BD9-81ED-4DB2-BD59-A6C34878D82A}">
                    <a16:rowId xmlns:a16="http://schemas.microsoft.com/office/drawing/2014/main" val="2433702436"/>
                  </a:ext>
                </a:extLst>
              </a:tr>
              <a:tr h="361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667927" y="-22513"/>
            <a:ext cx="8805334"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29202" y="2040390"/>
            <a:ext cx="548542" cy="567371"/>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761106"/>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65982" y="1351433"/>
            <a:ext cx="477888" cy="494292"/>
          </a:xfrm>
          <a:prstGeom prst="rect">
            <a:avLst/>
          </a:prstGeom>
          <a:noFill/>
        </p:spPr>
      </p:pic>
      <p:pic>
        <p:nvPicPr>
          <p:cNvPr id="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3368386"/>
            <a:ext cx="477888" cy="523287"/>
          </a:xfrm>
          <a:prstGeom prst="rect">
            <a:avLst/>
          </a:prstGeom>
          <a:noFill/>
        </p:spPr>
      </p:pic>
      <p:pic>
        <p:nvPicPr>
          <p:cNvPr id="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9400" y="3908018"/>
            <a:ext cx="477888" cy="523287"/>
          </a:xfrm>
          <a:prstGeom prst="rect">
            <a:avLst/>
          </a:prstGeom>
          <a:noFill/>
        </p:spPr>
      </p:pic>
      <p:pic>
        <p:nvPicPr>
          <p:cNvPr id="1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4200" y="4466081"/>
            <a:ext cx="477888" cy="523287"/>
          </a:xfrm>
          <a:prstGeom prst="rect">
            <a:avLst/>
          </a:prstGeom>
          <a:noFill/>
        </p:spPr>
      </p:pic>
      <p:pic>
        <p:nvPicPr>
          <p:cNvPr id="1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4675" y="4989957"/>
            <a:ext cx="477888" cy="439294"/>
          </a:xfrm>
          <a:prstGeom prst="rect">
            <a:avLst/>
          </a:prstGeom>
          <a:noFill/>
        </p:spPr>
      </p:pic>
      <p:pic>
        <p:nvPicPr>
          <p:cNvPr id="13"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103821" y="5523930"/>
            <a:ext cx="477888" cy="439294"/>
          </a:xfrm>
          <a:prstGeom prst="rect">
            <a:avLst/>
          </a:prstGeom>
          <a:noFill/>
        </p:spPr>
      </p:pic>
      <p:pic>
        <p:nvPicPr>
          <p:cNvPr id="1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975414"/>
            <a:ext cx="477888" cy="523287"/>
          </a:xfrm>
          <a:prstGeom prst="rect">
            <a:avLst/>
          </a:prstGeom>
          <a:noFill/>
        </p:spPr>
      </p:pic>
      <p:pic>
        <p:nvPicPr>
          <p:cNvPr id="1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2668419"/>
            <a:ext cx="477888" cy="523287"/>
          </a:xfrm>
          <a:prstGeom prst="rect">
            <a:avLst/>
          </a:prstGeom>
          <a:noFill/>
        </p:spPr>
      </p:pic>
      <p:pic>
        <p:nvPicPr>
          <p:cNvPr id="1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23125" y="3306037"/>
            <a:ext cx="477888" cy="523287"/>
          </a:xfrm>
          <a:prstGeom prst="rect">
            <a:avLst/>
          </a:prstGeom>
          <a:noFill/>
        </p:spPr>
      </p:pic>
      <p:pic>
        <p:nvPicPr>
          <p:cNvPr id="2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44188" y="3874230"/>
            <a:ext cx="477888" cy="523287"/>
          </a:xfrm>
          <a:prstGeom prst="rect">
            <a:avLst/>
          </a:prstGeom>
          <a:noFill/>
        </p:spPr>
      </p:pic>
      <p:pic>
        <p:nvPicPr>
          <p:cNvPr id="2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426092"/>
            <a:ext cx="477888" cy="439294"/>
          </a:xfrm>
          <a:prstGeom prst="rect">
            <a:avLst/>
          </a:prstGeom>
          <a:noFill/>
        </p:spPr>
      </p:pic>
      <p:pic>
        <p:nvPicPr>
          <p:cNvPr id="22"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989368"/>
            <a:ext cx="477888" cy="439294"/>
          </a:xfrm>
          <a:prstGeom prst="rect">
            <a:avLst/>
          </a:prstGeom>
          <a:noFill/>
        </p:spPr>
      </p:pic>
      <p:pic>
        <p:nvPicPr>
          <p:cNvPr id="2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28302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2325" y="544538"/>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5523930"/>
            <a:ext cx="477888" cy="439294"/>
          </a:xfrm>
          <a:prstGeom prst="rect">
            <a:avLst/>
          </a:prstGeom>
          <a:noFill/>
        </p:spPr>
      </p:pic>
    </p:spTree>
    <p:extLst>
      <p:ext uri="{BB962C8B-B14F-4D97-AF65-F5344CB8AC3E}">
        <p14:creationId xmlns:p14="http://schemas.microsoft.com/office/powerpoint/2010/main" val="109847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5567" y="-40292"/>
            <a:ext cx="10363200" cy="759798"/>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5509200"/>
          </a:xfrm>
          <a:prstGeom prst="rect">
            <a:avLst/>
          </a:prstGeom>
        </p:spPr>
        <p:txBody>
          <a:bodyPr wrap="square">
            <a:spAutoFit/>
          </a:bodyPr>
          <a:lstStyle/>
          <a:p>
            <a:pPr algn="just"/>
            <a:r>
              <a:rPr lang="en-US" sz="2200" dirty="0">
                <a:latin typeface="Times New Roman" pitchFamily="18" charset="0"/>
                <a:cs typeface="Times New Roman" pitchFamily="18" charset="0"/>
              </a:rPr>
              <a:t>	  We are feeling very comfortable on managing water in tank by online monitoring, Advance 	knowledge on water level makes it further more efficient in handling and looking for an 	another installation at a new site.				</a:t>
            </a:r>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Palani</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Murugan</a:t>
            </a:r>
            <a:r>
              <a:rPr lang="en-US" sz="2200" b="1" dirty="0">
                <a:latin typeface="Times New Roman" pitchFamily="18" charset="0"/>
                <a:cs typeface="Times New Roman" pitchFamily="18" charset="0"/>
              </a:rPr>
              <a:t> Temple</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purpose for which we installed is accomplished by the </a:t>
            </a:r>
            <a:r>
              <a:rPr lang="en-US" sz="2200" dirty="0" err="1">
                <a:latin typeface="Times New Roman" pitchFamily="18" charset="0"/>
                <a:cs typeface="Times New Roman" pitchFamily="18" charset="0"/>
              </a:rPr>
              <a:t>iTank</a:t>
            </a:r>
            <a:r>
              <a:rPr lang="en-US" sz="2200" dirty="0">
                <a:latin typeface="Times New Roman" pitchFamily="18" charset="0"/>
                <a:cs typeface="Times New Roman" pitchFamily="18" charset="0"/>
              </a:rPr>
              <a:t>. The over flow</a:t>
            </a:r>
          </a:p>
          <a:p>
            <a:pPr algn="just"/>
            <a:r>
              <a:rPr lang="en-US" sz="2200" dirty="0">
                <a:latin typeface="Times New Roman" pitchFamily="18" charset="0"/>
                <a:cs typeface="Times New Roman" pitchFamily="18" charset="0"/>
              </a:rPr>
              <a:t> prevention, Prevention of unnecessary operation increases energy saving and reduces </a:t>
            </a:r>
          </a:p>
          <a:p>
            <a:pPr algn="just"/>
            <a:r>
              <a:rPr lang="en-US" sz="2200" dirty="0">
                <a:latin typeface="Times New Roman" pitchFamily="18" charset="0"/>
                <a:cs typeface="Times New Roman" pitchFamily="18" charset="0"/>
              </a:rPr>
              <a:t>water sourcing. Simple, User Friendly, Managing all the 54 tanks in a single web page </a:t>
            </a:r>
          </a:p>
          <a:p>
            <a:pPr algn="just"/>
            <a:r>
              <a:rPr lang="en-US" sz="2200" dirty="0">
                <a:latin typeface="Times New Roman" pitchFamily="18" charset="0"/>
                <a:cs typeface="Times New Roman" pitchFamily="18" charset="0"/>
              </a:rPr>
              <a:t>gives over all visibility instantly. We are having plans to extent the system for our host institutions.				 				            </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Kongu</a:t>
            </a:r>
            <a:r>
              <a:rPr lang="en-US" sz="2200" b="1" dirty="0">
                <a:latin typeface="Times New Roman" pitchFamily="18" charset="0"/>
                <a:cs typeface="Times New Roman" pitchFamily="18" charset="0"/>
              </a:rPr>
              <a:t> Engineering College</a:t>
            </a: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Better at conservation of water and energy by reducing overflow from tanks. A good solution 	to prevent rupturing of pipelines due to shut off valves and inadvertent staring of motor. 	Electrical team is totally relaxed of water management at running room.</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Erode Railway Junction</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216693" y="1103070"/>
            <a:ext cx="980286" cy="929141"/>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a:srcRect/>
          <a:stretch>
            <a:fillRect/>
          </a:stretch>
        </p:blipFill>
        <p:spPr bwMode="auto">
          <a:xfrm>
            <a:off x="10248149" y="2720126"/>
            <a:ext cx="1200150" cy="1009650"/>
          </a:xfrm>
          <a:prstGeom prst="rect">
            <a:avLst/>
          </a:prstGeom>
          <a:noFill/>
          <a:ln w="9525">
            <a:noFill/>
            <a:miter lim="800000"/>
            <a:headEnd/>
            <a:tailEnd/>
          </a:ln>
          <a:effectLst/>
        </p:spPr>
      </p:pic>
      <p:pic>
        <p:nvPicPr>
          <p:cNvPr id="10245" name="Picture 5"/>
          <p:cNvPicPr>
            <a:picLocks noChangeAspect="1" noChangeArrowheads="1"/>
          </p:cNvPicPr>
          <p:nvPr/>
        </p:nvPicPr>
        <p:blipFill>
          <a:blip r:embed="rId4"/>
          <a:srcRect/>
          <a:stretch>
            <a:fillRect/>
          </a:stretch>
        </p:blipFill>
        <p:spPr bwMode="auto">
          <a:xfrm>
            <a:off x="134713" y="4688114"/>
            <a:ext cx="1084906" cy="1121682"/>
          </a:xfrm>
          <a:prstGeom prst="rect">
            <a:avLst/>
          </a:prstGeom>
          <a:noFill/>
          <a:ln w="9525">
            <a:noFill/>
            <a:miter lim="800000"/>
            <a:headEnd/>
            <a:tailEnd/>
          </a:ln>
          <a:effectLst/>
        </p:spPr>
      </p:pic>
      <p:pic>
        <p:nvPicPr>
          <p:cNvPr id="7" name="Picture 2" descr="C:\Users\HP-RTS\Downloads\WhatsApp Image 2023-08-11 at 1.36.26 PM.png"/>
          <p:cNvPicPr>
            <a:picLocks noChangeAspect="1" noChangeArrowheads="1"/>
          </p:cNvPicPr>
          <p:nvPr/>
        </p:nvPicPr>
        <p:blipFill>
          <a:blip r:embed="rId5"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1728881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86590" y="94594"/>
            <a:ext cx="10363200" cy="633674"/>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4493538"/>
          </a:xfrm>
          <a:prstGeom prst="rect">
            <a:avLst/>
          </a:prstGeom>
        </p:spPr>
        <p:txBody>
          <a:bodyPr wrap="square">
            <a:spAutoFit/>
          </a:bodyPr>
          <a:lstStyle/>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Water over flow is completely under control, Consumption report makes us easier to </a:t>
            </a:r>
          </a:p>
          <a:p>
            <a:pPr algn="just"/>
            <a:r>
              <a:rPr lang="en-US" sz="2200" dirty="0">
                <a:latin typeface="Times New Roman" pitchFamily="18" charset="0"/>
                <a:cs typeface="Times New Roman" pitchFamily="18" charset="0"/>
              </a:rPr>
              <a:t>estimate the total intake. Feeling relaxed of water management. Having plans to extend</a:t>
            </a:r>
          </a:p>
          <a:p>
            <a:pPr algn="just"/>
            <a:r>
              <a:rPr lang="en-US" sz="2200" dirty="0">
                <a:latin typeface="Times New Roman" pitchFamily="18" charset="0"/>
                <a:cs typeface="Times New Roman" pitchFamily="18" charset="0"/>
              </a:rPr>
              <a:t> the solution in other institutions.                                                                   </a:t>
            </a:r>
            <a:r>
              <a:rPr lang="en-US" sz="2200" b="1" dirty="0">
                <a:latin typeface="Times New Roman" pitchFamily="18" charset="0"/>
                <a:cs typeface="Times New Roman" pitchFamily="18" charset="0"/>
              </a:rPr>
              <a:t> - The Indian Public School</a:t>
            </a:r>
          </a:p>
          <a:p>
            <a:endParaRPr lang="en-US" sz="2200" b="1" dirty="0">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By using of I tank our Poultry farm was reducing overflow from tanks. This system has an inbuilt 	motor auto-cut-off &amp; dry run functions, So we Prevents the motor &amp; Electrical persons work is 	reduced and simply working excellent. I will see the tank levels in my mobile itself no need to 	go farm. 	</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Mohanraj</a:t>
            </a:r>
            <a:r>
              <a:rPr lang="en-US" sz="2200" b="1" dirty="0">
                <a:latin typeface="Times New Roman" pitchFamily="18" charset="0"/>
                <a:cs typeface="Times New Roman" pitchFamily="18" charset="0"/>
              </a:rPr>
              <a:t> Poultry Farms</a:t>
            </a:r>
          </a:p>
          <a:p>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				 		</a:t>
            </a:r>
            <a:endParaRPr lang="en-US" sz="2200" b="1"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10334171" y="1745571"/>
            <a:ext cx="1262743" cy="638175"/>
          </a:xfrm>
          <a:prstGeom prst="rect">
            <a:avLst/>
          </a:prstGeom>
          <a:noFill/>
          <a:ln w="9525">
            <a:noFill/>
            <a:miter lim="800000"/>
            <a:headEnd/>
            <a:tailEnd/>
          </a:ln>
          <a:effectLst/>
        </p:spPr>
      </p:pic>
      <p:pic>
        <p:nvPicPr>
          <p:cNvPr id="12" name="Picture 11" descr="141819608-hen-incubate-eggs-in-the-nest-on-white-background-vector-logo-chicken-farm-products-from-chicken-mea.jpg"/>
          <p:cNvPicPr>
            <a:picLocks noChangeAspect="1"/>
          </p:cNvPicPr>
          <p:nvPr/>
        </p:nvPicPr>
        <p:blipFill>
          <a:blip r:embed="rId3" cstate="print"/>
          <a:stretch>
            <a:fillRect/>
          </a:stretch>
        </p:blipFill>
        <p:spPr>
          <a:xfrm>
            <a:off x="208342" y="3561115"/>
            <a:ext cx="996043" cy="1068756"/>
          </a:xfrm>
          <a:prstGeom prst="rect">
            <a:avLst/>
          </a:prstGeom>
        </p:spPr>
      </p:pic>
      <p:pic>
        <p:nvPicPr>
          <p:cNvPr id="6"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2303516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E2826-7339-461A-8458-A22F73DD3BC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822960" y="141508"/>
            <a:ext cx="4549025" cy="6545043"/>
          </a:xfrm>
          <a:prstGeom prst="rect">
            <a:avLst/>
          </a:prstGeom>
        </p:spPr>
      </p:pic>
      <p:pic>
        <p:nvPicPr>
          <p:cNvPr id="5" name="Picture 4">
            <a:extLst>
              <a:ext uri="{FF2B5EF4-FFF2-40B4-BE49-F238E27FC236}">
                <a16:creationId xmlns:a16="http://schemas.microsoft.com/office/drawing/2014/main" id="{681D01FF-6E9F-4056-B905-24F5CD3FA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7969" y="119858"/>
            <a:ext cx="4572001" cy="6588067"/>
          </a:xfrm>
          <a:prstGeom prst="rect">
            <a:avLst/>
          </a:prstGeom>
        </p:spPr>
      </p:pic>
      <p:sp>
        <p:nvSpPr>
          <p:cNvPr id="4" name="Rectangle 3"/>
          <p:cNvSpPr/>
          <p:nvPr/>
        </p:nvSpPr>
        <p:spPr>
          <a:xfrm>
            <a:off x="5772150" y="114300"/>
            <a:ext cx="480060" cy="6583680"/>
          </a:xfrm>
          <a:prstGeom prst="rect">
            <a:avLst/>
          </a:prstGeom>
          <a:solidFill>
            <a:srgbClr val="00CC6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r>
              <a:rPr lang="en-US" sz="1550" b="1" dirty="0">
                <a:solidFill>
                  <a:schemeClr val="tx1"/>
                </a:solidFill>
              </a:rPr>
              <a:t>TESTIMONIAL CERTIFICATE</a:t>
            </a:r>
          </a:p>
        </p:txBody>
      </p:sp>
    </p:spTree>
    <p:extLst>
      <p:ext uri="{BB962C8B-B14F-4D97-AF65-F5344CB8AC3E}">
        <p14:creationId xmlns:p14="http://schemas.microsoft.com/office/powerpoint/2010/main" val="6216946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AF44A7-0A0B-4E5C-8C20-C3C28A7A9361}"/>
              </a:ext>
            </a:extLst>
          </p:cNvPr>
          <p:cNvSpPr>
            <a:spLocks noGrp="1"/>
          </p:cNvSpPr>
          <p:nvPr>
            <p:ph type="ctrTitle"/>
          </p:nvPr>
        </p:nvSpPr>
        <p:spPr/>
        <p:txBody>
          <a:bodyPr>
            <a:normAutofit/>
          </a:bodyPr>
          <a:lstStyle/>
          <a:p>
            <a:r>
              <a:rPr lang="en-US" sz="4400" b="1" dirty="0">
                <a:latin typeface="Times New Roman" pitchFamily="18" charset="0"/>
                <a:cs typeface="Times New Roman" pitchFamily="18" charset="0"/>
              </a:rPr>
              <a:t>THANK YOU FOR THE OPPORTUNITY </a:t>
            </a:r>
            <a:endParaRPr lang="en-IN" sz="44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64FFA02F-96A8-41A7-A0E8-F5DBCDBB8E11}"/>
              </a:ext>
            </a:extLst>
          </p:cNvPr>
          <p:cNvSpPr txBox="1"/>
          <p:nvPr/>
        </p:nvSpPr>
        <p:spPr>
          <a:xfrm>
            <a:off x="3816366" y="3480839"/>
            <a:ext cx="5082101" cy="2800767"/>
          </a:xfrm>
          <a:prstGeom prst="rect">
            <a:avLst/>
          </a:prstGeom>
          <a:noFill/>
        </p:spPr>
        <p:txBody>
          <a:bodyPr wrap="square" rtlCol="0">
            <a:spAutoFit/>
          </a:bodyPr>
          <a:lstStyle/>
          <a:p>
            <a:pPr algn="ctr"/>
            <a:r>
              <a:rPr lang="en-IN" sz="3200" b="1" dirty="0">
                <a:solidFill>
                  <a:srgbClr val="00B050"/>
                </a:solidFill>
                <a:latin typeface="Times New Roman" pitchFamily="18" charset="0"/>
                <a:cs typeface="Times New Roman" pitchFamily="18" charset="0"/>
              </a:rPr>
              <a:t>REAL TECH SYSTEMS</a:t>
            </a:r>
          </a:p>
          <a:p>
            <a:pPr algn="ctr"/>
            <a:r>
              <a:rPr lang="en-IN" sz="2400" b="1" dirty="0">
                <a:solidFill>
                  <a:srgbClr val="002060"/>
                </a:solidFill>
                <a:latin typeface="Times New Roman" pitchFamily="18" charset="0"/>
                <a:cs typeface="Times New Roman" pitchFamily="18" charset="0"/>
              </a:rPr>
              <a:t>9, Erode Road Cross Street -1, </a:t>
            </a:r>
          </a:p>
          <a:p>
            <a:pPr algn="ctr"/>
            <a:r>
              <a:rPr lang="en-IN" sz="2400" b="1" dirty="0">
                <a:solidFill>
                  <a:srgbClr val="002060"/>
                </a:solidFill>
                <a:latin typeface="Times New Roman" pitchFamily="18" charset="0"/>
                <a:cs typeface="Times New Roman" pitchFamily="18" charset="0"/>
              </a:rPr>
              <a:t>Vengamedu, Perundurai, </a:t>
            </a:r>
          </a:p>
          <a:p>
            <a:pPr algn="ctr"/>
            <a:r>
              <a:rPr lang="en-IN" sz="2400" b="1" dirty="0">
                <a:solidFill>
                  <a:srgbClr val="002060"/>
                </a:solidFill>
                <a:latin typeface="Times New Roman" pitchFamily="18" charset="0"/>
                <a:cs typeface="Times New Roman" pitchFamily="18" charset="0"/>
              </a:rPr>
              <a:t>Tamil Nadu, 638052. </a:t>
            </a:r>
          </a:p>
          <a:p>
            <a:pPr algn="ctr"/>
            <a:r>
              <a:rPr lang="en-IN" sz="2400" b="1" dirty="0">
                <a:solidFill>
                  <a:srgbClr val="002060"/>
                </a:solidFill>
                <a:latin typeface="Times New Roman" pitchFamily="18" charset="0"/>
                <a:cs typeface="Times New Roman" pitchFamily="18" charset="0"/>
                <a:hlinkClick r:id="rId2"/>
              </a:rPr>
              <a:t>www.realtech.in</a:t>
            </a:r>
            <a:endParaRPr lang="en-IN" sz="2400" b="1" dirty="0">
              <a:solidFill>
                <a:srgbClr val="002060"/>
              </a:solidFill>
              <a:latin typeface="Times New Roman" pitchFamily="18" charset="0"/>
              <a:cs typeface="Times New Roman" pitchFamily="18" charset="0"/>
            </a:endParaRPr>
          </a:p>
          <a:p>
            <a:pPr algn="ctr"/>
            <a:endParaRPr lang="en-IN" sz="2400" b="1" dirty="0">
              <a:solidFill>
                <a:srgbClr val="002060"/>
              </a:solidFill>
              <a:latin typeface="Times New Roman" pitchFamily="18" charset="0"/>
              <a:cs typeface="Times New Roman" pitchFamily="18" charset="0"/>
            </a:endParaRPr>
          </a:p>
          <a:p>
            <a:pPr algn="ctr"/>
            <a:r>
              <a:rPr lang="en-IN" sz="2400" b="1" dirty="0">
                <a:solidFill>
                  <a:srgbClr val="002060"/>
                </a:solidFill>
                <a:latin typeface="Times New Roman" pitchFamily="18" charset="0"/>
                <a:cs typeface="Times New Roman" pitchFamily="18" charset="0"/>
              </a:rPr>
              <a:t>GSTIN: 33AAIFR6845A1ZD</a:t>
            </a:r>
            <a:r>
              <a:rPr lang="en-IN" b="1" dirty="0">
                <a:solidFill>
                  <a:srgbClr val="002060"/>
                </a:solidFill>
                <a:latin typeface="Times New Roman" pitchFamily="18" charset="0"/>
                <a:cs typeface="Times New Roman" pitchFamily="18" charset="0"/>
              </a:rPr>
              <a:t>.</a:t>
            </a:r>
          </a:p>
        </p:txBody>
      </p:sp>
      <p:pic>
        <p:nvPicPr>
          <p:cNvPr id="4"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0556260" y="5969480"/>
            <a:ext cx="1371636" cy="675366"/>
          </a:xfrm>
          <a:prstGeom prst="rect">
            <a:avLst/>
          </a:prstGeom>
          <a:noFill/>
        </p:spPr>
      </p:pic>
    </p:spTree>
    <p:extLst>
      <p:ext uri="{BB962C8B-B14F-4D97-AF65-F5344CB8AC3E}">
        <p14:creationId xmlns:p14="http://schemas.microsoft.com/office/powerpoint/2010/main" val="4259165777"/>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61" name="RTS_GENERATED_DIAGRAM::worksheet_1" descr="image.png"/>
          <p:cNvPicPr>
            <a:picLocks noChangeAspect="1"/>
          </p:cNvPicPr>
          <p:nvPr/>
        </p:nvPicPr>
        <p:blipFill>
          <a:blip r:embed="rId5"/>
          <a:stretch>
            <a:fillRect/>
          </a:stretch>
        </p:blipFill>
        <p:spPr>
          <a:xfrm>
            <a:off x="1941133" y="1097280"/>
            <a:ext cx="8306684" cy="52578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TS_PRICE_DETAILS::worksheet_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 Tank">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 Tank</Template>
  <TotalTime>13259</TotalTime>
  <Words>3675</Words>
  <Application>Microsoft Office PowerPoint</Application>
  <PresentationFormat>Widescreen</PresentationFormat>
  <Paragraphs>987</Paragraphs>
  <Slides>48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Times New Roman</vt:lpstr>
      <vt:lpstr>Wingdings 2</vt:lpstr>
      <vt:lpstr>I Tank</vt:lpstr>
      <vt:lpstr>YYYYYYYYYYYY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FLOWMETER – TEATMENT PLANT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THE OPPORTUNITY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RTS - iTANK</dc:title>
  <dc:creator>RTS - iTANK</dc:creator>
  <cp:lastModifiedBy>DELL</cp:lastModifiedBy>
  <cp:revision>2002</cp:revision>
  <cp:lastPrinted>2025-11-06T06:59:30Z</cp:lastPrinted>
  <dcterms:created xsi:type="dcterms:W3CDTF">2020-03-06T10:51:36Z</dcterms:created>
  <dcterms:modified xsi:type="dcterms:W3CDTF">2026-08-17T09:57:22Z</dcterms:modified>
</cp:coreProperties>
</file>